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6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24536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896" y="3099816"/>
            <a:ext cx="8522208" cy="1536192"/>
          </a:xfrm>
        </p:spPr>
        <p:txBody>
          <a:bodyPr wrap="square"/>
          <a:lstStyle/>
          <a:p>
            <a:pPr>
              <a:defRPr sz="1200">
                <a:solidFill>
                  <a:srgbClr val="212121"/>
                </a:solidFill>
                <a:latin typeface="Arial"/>
              </a:defRPr>
            </a:pPr>
            <a:r>
              <a:t>Student name: Aditya Maskare		Roll no: 102			 Division: B</a:t>
            </a:r>
          </a:p>
          <a:p>
            <a:pPr>
              <a:defRPr sz="1200">
                <a:solidFill>
                  <a:srgbClr val="212121"/>
                </a:solidFill>
                <a:latin typeface="Arial"/>
              </a:defRPr>
            </a:pPr>
            <a:r>
              <a:t>Student name: Vinayak Maurya		Roll no: 103			 Division: B</a:t>
            </a:r>
          </a:p>
          <a:p>
            <a:pPr>
              <a:defRPr sz="1200">
                <a:solidFill>
                  <a:srgbClr val="212121"/>
                </a:solidFill>
                <a:latin typeface="Arial"/>
              </a:defRPr>
            </a:pPr>
            <a:r>
              <a:t>Student name: Abhishek Mishra		Roll no: 108			 Division: B</a:t>
            </a:r>
          </a:p>
        </p:txBody>
      </p:sp>
      <p:pic>
        <p:nvPicPr>
          <p:cNvPr id="4" name="Picture 3" descr="slide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55448"/>
            <a:ext cx="8522208" cy="1298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5256" y="1600200"/>
            <a:ext cx="73334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Arial"/>
              </a:defRPr>
            </a:pPr>
            <a:r>
              <a:t>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31720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285F4"/>
                </a:solidFill>
                <a:latin typeface="Arial"/>
              </a:defRPr>
            </a:pPr>
            <a:r>
              <a:t>Orion : An AI Business Operating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48" y="484632"/>
            <a:ext cx="8366760" cy="1417320"/>
          </a:xfrm>
        </p:spPr>
        <p:txBody>
          <a:bodyPr wrap="square"/>
          <a:lstStyle/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A founder needs a plan covering positioning, unit economics, brand, acquisition and operations. Consulting is expensive and templates give structure without analysis. A single LLM pass produces text that reads well but does not hold together: revenue above the market size the same document calculated, marketing budgets above the cost base. And even a correct plan is static, while the business it describes changes the day after it is written.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993392"/>
            <a:ext cx="8522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2542032"/>
            <a:ext cx="852220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Decomposition: generate a complete founding plan with 21 specialised agents across five departments over an enforced append-only state contract, so cross-agent disagreement becomes measurable instead of masked.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Determinism: reconcile conflicting quantitative claims in code rather than by prompt instruction, computing derived figures instead of accepting asserted ones.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Continuous operation: treat the finished plan as the company's opening state and operate it on department cadences thereafter.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Governed autonomy: route every consequential action through a gate chain, with hard constraints enforced in the execution path and subjective judgement reserved for a human.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Measurement: evaluate the architecture against a single-LLM baseline on quantitative metrics with explicit control 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56032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8522208" cy="3703320"/>
          </a:xfrm>
        </p:spPr>
        <p:txBody>
          <a:bodyPr wrap="square"/>
          <a:lstStyle/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Plan generation: a complete founding business plan for a new micro or small enterprise from a single natural-language sentence, anchored to a stated budget and locality.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Department decomposition: Strategy, Finance, Branding, Marketing and Operations, executed as nested graphs with parallelism where agents are independent and explicit staging where they are not.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External grounding: nearby competitors retrieved from a places database and market statistics from web search, with verified data overriding model-generated data for the same field.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Operating layer: an append-only ledger, anchor metrics computed from it by code, code-enforced hard constraints, a five-stage governance chain, four monitor loops, per-department memory and cadence scheduling.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Evaluation: financial accuracy, competitor coverage, plan completeness, cross-department consistency and routing efficiency, over a fixed prompt set with control arms.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Out of scope: real financial transactions, deployment beyond localhost, and geographies outside India in this iteration.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Architecture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10896"/>
            <a:ext cx="6355080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Data Flow Diagram - DFD Level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49224"/>
            <a:ext cx="6217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Data Flow Diagram - DFD Level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585216"/>
            <a:ext cx="7909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Data Flow Diagram - DFD Level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df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94360"/>
            <a:ext cx="7040880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Use Case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2336"/>
            <a:ext cx="5824728" cy="4014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Activity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402336"/>
            <a:ext cx="5157216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29184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4151376" cy="3291840"/>
          </a:xfrm>
        </p:spPr>
        <p:txBody>
          <a:bodyPr wrap="square"/>
          <a:lstStyle/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Orchestration: LangGraph, stateful multi-agent coordination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LLM core: Groq 70B and 8B, Google Gemini Flash, Ollama local fallback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Backend: Python 3.13, FastAPI, WebSocket streaming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Persistence: SQLite in WAL mode, ChromaDB for the knowledge cache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Grounding: OpenStreetMap Overpass, Serper web search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Frontend: React 18 with Vite, inline SVG only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Evaluation: scipy for paired significance tests, matplotlib for figures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Testing: pytest, 828 tests, fully offline behind a socket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65176"/>
            <a:ext cx="4544568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56032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SDG Goals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8522208" cy="3703320"/>
          </a:xfrm>
        </p:spPr>
        <p:txBody>
          <a:bodyPr wrap="square"/>
          <a:lstStyle/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Goal 8: Decent Work and Economic Growth</a:t>
            </a:r>
          </a:p>
          <a:p>
            <a:pPr lvl="1">
              <a:defRPr sz="1050">
                <a:solidFill>
                  <a:srgbClr val="595959"/>
                </a:solidFill>
                <a:latin typeface="Arial"/>
              </a:defRPr>
            </a:pPr>
            <a:r>
              <a:t>Lowers the cost of a credible founding plan for micro and small enterprises, and automates the repetitive analytical work that otherwise blocks a first-time founder.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Goal 9: Industry, Innovation and Infrastructure</a:t>
            </a:r>
          </a:p>
          <a:p>
            <a:pPr lvl="1">
              <a:defRPr sz="1050">
                <a:solidFill>
                  <a:srgbClr val="595959"/>
                </a:solidFill>
                <a:latin typeface="Arial"/>
              </a:defRPr>
            </a:pPr>
            <a:r>
              <a:t>Contributes an architecture for governed autonomous operation, together with a reproducible evaluation harness released as an artefact.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Goal 10: Reduced Inequalities</a:t>
            </a:r>
          </a:p>
          <a:p>
            <a:pPr lvl="1">
              <a:defRPr sz="1050">
                <a:solidFill>
                  <a:srgbClr val="595959"/>
                </a:solidFill>
                <a:latin typeface="Arial"/>
              </a:defRPr>
            </a:pPr>
            <a:r>
              <a:t>Professional business analysis currently costs between ten thousand and one lakh rupees. Running entirely on free tiers and local models removes that barrier.</a:t>
            </a:r>
          </a:p>
          <a:p>
            <a:pPr>
              <a:defRPr sz="1150">
                <a:solidFill>
                  <a:srgbClr val="212121"/>
                </a:solidFill>
                <a:latin typeface="Arial"/>
              </a:defRPr>
            </a:pPr>
            <a:r>
              <a:t>Goal 12: Responsible Consumption and Production</a:t>
            </a:r>
          </a:p>
          <a:p>
            <a:pPr lvl="1">
              <a:defRPr sz="1050">
                <a:solidFill>
                  <a:srgbClr val="595959"/>
                </a:solidFill>
                <a:latin typeface="Arial"/>
              </a:defRPr>
            </a:pPr>
            <a:r>
              <a:t>Dynamic routing skips departments with no meaningful output, measured at a 17.3 percent token saving with no quality loss, reducing compute per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" y="-36576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90688" y="474573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5176" y="320040"/>
          <a:ext cx="8613648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481328"/>
                <a:gridCol w="1298448"/>
                <a:gridCol w="1170432"/>
                <a:gridCol w="1572768"/>
                <a:gridCol w="1389888"/>
                <a:gridCol w="1316736"/>
              </a:tblGrid>
              <a:tr h="737616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Sr</a:t>
                      </a:r>
                    </a:p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title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approach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Algorithm/</a:t>
                      </a:r>
                    </a:p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Technique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Future Scope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MetaGPT: Meta Programming for a Multi-Agent Collaborative Framework (arXiv:2308.00352)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Assigns software engineering roles to agents; passes structured documents between them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Assembly-line SOP encoding, role specialisation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Role specialisation plus structured intermediate artefacts outperforms free-form agent chat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Evaluated on software tasks with executable tests as an oracle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Transfer of the structured-artefact idea to domains with no test oracle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ChatDev: Communicative Agents for Software Development (arXiv:2307.07924)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Organises agents into a chat chain across a waterfall of phases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Communicative dehallucination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Inter-agent dialogue reduces hallucination in generated artefacts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Relies on dialogue rather than enforced constraints; quantities remain negotiable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Making contested quantities non-negotiable rather than discussed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AutoGen: Enabling Next-Gen LLM Applications via Multi-Agent Conversation (arXiv:2308.08155)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General framework for conversable, customisable agents with optional human participation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Conversation programming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 flexible capability layer supporting diverse multi-agent topologies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 capability layer, not an architecture for a specific task; execution graph not explicit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Explicit graphs so routing itself can be manipulated and measured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BusiAgent: A Multi-Agent LLM Framework for Business Excellence (arXiv:2508.15447)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Multi-agent decision support for established corporate environments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Role-based managerial reasoning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Demonstrates multi-agent viability on business decision tasks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Targets existing organisations; does not generate a founding plan or operate a company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Founding a new enterprise and operating it after creation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Agentic AI Frameworks: Architectures, Protocols and Design Challenges (arXiv:2508.10146)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Survey comparing CrewAI, LangGraph, AutoGen, Semantic Kernel and MetaGPT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Comparative analysis of communication, memory and safety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Maps the design space and identifies memory and safety as weak points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Survey only; no measurement of the failure modes it identifies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Empirical measurement of memory scoping and governance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90688" y="474573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5176" y="320040"/>
          <a:ext cx="8613648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481328"/>
                <a:gridCol w="1298448"/>
                <a:gridCol w="1170432"/>
                <a:gridCol w="1572768"/>
                <a:gridCol w="1389888"/>
                <a:gridCol w="1316736"/>
              </a:tblGrid>
              <a:tr h="737616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Sr</a:t>
                      </a:r>
                    </a:p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title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approach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Algorithm/</a:t>
                      </a:r>
                    </a:p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Technique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Future Scope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Reflexion: Language Agents with Verbal Reinforcement Learning (arXiv:2303.11366, NeurIPS 2023)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Agents write natural-language reflections on failure and retrieve them later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Verbal reinforcement learning, episodic memory buffer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Self-reflection improves task success across sequential decision making, coding and reasoning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Reflection is grounded in the agent's own account of the episode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Grounding reflection in externally computed measurement instead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Generative Agents: Interactive Simulacra of Human Behavior (arXiv:2304.03442)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Memory stream with retrieval, higher-level reflection and planning over long horizons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Importance-weighted retrieval, reflection synthesis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Believable individual and emergent social behaviour over extended simulated periods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Shared memory stream; no measurement of retrieval precision as the corpus grows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Per-unit memory scoping with precision measured against corpus size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Categorizing Variants of Goodhart's Law (arXiv:1803.04585)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Formal decomposition of metric overoptimisation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Regressional, extremal, causal and adversarial variants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Distinguishes mechanistically different ways a proxy decouples from its goal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Theoretical; no architectural remedy at the level of a multi-unit organisation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Architectural countermeasures and measurement of divergence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Defining and Characterizing Reward Hacking (arXiv:2209.13085, NeurIPS 2022)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Formal definition of reward hacking and unhackability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Proxy versus true reward ordering analysis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Unhackability is a very strong condition; two rewards are unhackable only in narrow cases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Reinforcement learning framing; not applied to multi-agent business operation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Applying the framing to organisational proxies and anchors</a:t>
                      </a:r>
                    </a:p>
                  </a:txBody>
                  <a:tcPr marL="36576" marR="36576" marT="18288" marB="18288"/>
                </a:tc>
              </a:tr>
              <a:tr h="7376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Concrete Problems in AI Safety (arXiv:1606.06565)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Enumerates practical accident risks in deployed ML systems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Reward hacking, side effects, scalable supervision, distributional shift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Names reward hacking and scalable supervision as central deployment problems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Framed as a research agenda rather than an implemented architecture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Concrete enforcement mechanisms and human oversight budgets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448056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Expected Outcome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152144"/>
            <a:ext cx="8522208" cy="3419856"/>
          </a:xfrm>
        </p:spPr>
        <p:txBody>
          <a:bodyPr wrap="square"/>
          <a:lstStyle/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Completeness: a plan filling 100 percent of a 26-field rubric against roughly 81 percent for a single-LLM baseline, measured on the smoke run and to be confirmed over the full 35-prompt sweep.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Efficiency: a 17.3 percent token saving from dynamic routing with a 0.0 percentage-point completeness delta on prompts where a department is genuinely skipped.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A reported negative result: on financial accuracy the single-LLM baseline currently wins, which we attribute to variance compounding along the agent dependency chain rather than to a defect, and which we report rather than tune away.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A methodological finding: cross-agent quantitative constraints must be enforced in code, because prompt instructions containing explicit numeric bounds were ignored repeatedly by capable models.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An operating layer whose invariants are enforced and tested: anchors computed from an append-only ledger and writable by no agent, hard constraints in the execution path, and a validated loop topology.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A reproducible artefact running entirely on free-tier infrastructure, with 828 offline tests and no paid dependency in the code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56032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References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8522208" cy="3703320"/>
          </a:xfrm>
        </p:spPr>
        <p:txBody>
          <a:bodyPr wrap="square"/>
          <a:lstStyle/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MetaGPT: Meta Programming for a Multi-Agent Collaborative Framework (2023)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Hong, S. et al. arXiv:2308.00352. Introduces standardised operating procedures for role-specialised agents that exchange structured documents rather than free-form messages. Our department decomposition follows the same principle, with the shared state object in place of its documents.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ChatDev: Communicative Agents for Software Development (2023)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Qian, C. et al. arXiv:2307.07924. Organises agents into a chat chain and introduces communicative dehallucination. Where ChatDev reduces hallucination through dialogue, we make contested quantities non-negotiable by deriving them.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AutoGen: Enabling Next-Gen LLM Applications via Multi-Agent Conversation (2023)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Wu, Q. et al. arXiv:2308.08155. A general framework for conversable agents with optional human participation. We use LangGraph instead because it exposes the execution graph explicitly, which our routing experiment manipulates directly.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56032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References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8522208" cy="3703320"/>
          </a:xfrm>
        </p:spPr>
        <p:txBody>
          <a:bodyPr wrap="square"/>
          <a:lstStyle/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Reflexion: Language Agents with Verbal Reinforcement Learning (2023)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Shinn, N., Cassano, F., Berman, E., Gopinath, A., Narasimhan, K. and Yao, S. NeurIPS 2023, arXiv:2303.11366. Establishes that an agent can improve by writing reflections on failure and retrieving them. Our reflection differs in being grounded in measured anchor deltas rather than the agent's own account.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Generative Agents: Interactive Simulacra of Human Behavior (2023)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Park, J. S., O'Brien, J. C., Cai, C. J., Morris, M. R., Liang, P. and Bernstein, M. S. arXiv:2304.03442. Demonstrates memory streams with retrieval, reflection and planning over long horizons. Informs our memory design; we add per-department scoping.</a:t>
            </a:r>
          </a:p>
          <a:p>
            <a:pPr>
              <a:defRPr sz="1100">
                <a:solidFill>
                  <a:srgbClr val="212121"/>
                </a:solidFill>
                <a:latin typeface="Arial"/>
              </a:defRPr>
            </a:pPr>
            <a:r>
              <a:t>BusiAgent: A Multi-Agent LLM Framework for Business Excellence (2025)</a:t>
            </a:r>
          </a:p>
          <a:p>
            <a:pPr lvl="1">
              <a:defRPr sz="1000">
                <a:solidFill>
                  <a:srgbClr val="595959"/>
                </a:solidFill>
                <a:latin typeface="Arial"/>
              </a:defRPr>
            </a:pPr>
            <a:r>
              <a:t>arXiv:2508.15447. The closest prior work in the business domain, targeting managerial decision support in established organisations rather than founding and then operating a new enterprise.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56032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References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868680"/>
            <a:ext cx="8522208" cy="3703320"/>
          </a:xfrm>
        </p:spPr>
        <p:txBody>
          <a:bodyPr wrap="square"/>
          <a:lstStyle/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Categorizing Variants of Goodhart's Law (2018)</a:t>
            </a:r>
          </a:p>
          <a:p>
            <a:pPr lvl="1">
              <a:defRPr sz="950">
                <a:solidFill>
                  <a:srgbClr val="595959"/>
                </a:solidFill>
                <a:latin typeface="Arial"/>
              </a:defRPr>
            </a:pPr>
            <a:r>
              <a:t>Manheim, D. and Garrabrant, S. arXiv:1803.04585. Decomposes metric overoptimisation into regressional, extremal, causal and adversarial variants. Motivates the anchor design and the divergence metric proposed for the operating layer.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Defining and Characterizing Reward Hacking (2022)</a:t>
            </a:r>
          </a:p>
          <a:p>
            <a:pPr lvl="1">
              <a:defRPr sz="950">
                <a:solidFill>
                  <a:srgbClr val="595959"/>
                </a:solidFill>
                <a:latin typeface="Arial"/>
              </a:defRPr>
            </a:pPr>
            <a:r>
              <a:t>Skalse, J., Howe, N. H. R., Krasheninnikov, D. and Krueger, D. NeurIPS 2022, arXiv:2209.13085. Gives the first formal definition of reward hacking and shows that unhackability is a very strong condition.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Concrete Problems in AI Safety (2016)</a:t>
            </a:r>
          </a:p>
          <a:p>
            <a:pPr lvl="1">
              <a:defRPr sz="950">
                <a:solidFill>
                  <a:srgbClr val="595959"/>
                </a:solidFill>
                <a:latin typeface="Arial"/>
              </a:defRPr>
            </a:pPr>
            <a:r>
              <a:t>Amodei, D., Olah, C., Steinhardt, J., Christiano, P., Schulman, J. and Mane, D. arXiv:1606.06565. Identifies reward hacking and scalable supervision among the concrete problems of deployed systems.</a:t>
            </a:r>
          </a:p>
          <a:p>
            <a:pPr>
              <a:defRPr sz="1050">
                <a:solidFill>
                  <a:srgbClr val="212121"/>
                </a:solidFill>
                <a:latin typeface="Arial"/>
              </a:defRPr>
            </a:pPr>
            <a:r>
              <a:t>Agentic AI Frameworks: Architectures, Protocols and Design Challenges (2025)</a:t>
            </a:r>
          </a:p>
          <a:p>
            <a:pPr lvl="1">
              <a:defRPr sz="950">
                <a:solidFill>
                  <a:srgbClr val="595959"/>
                </a:solidFill>
                <a:latin typeface="Arial"/>
              </a:defRPr>
            </a:pPr>
            <a:r>
              <a:t>arXiv:2508.10146. Survey comparing CrewAI, LangGraph, AutoGen, Semantic Kernel and MetaGPT on communication, memory and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576072"/>
          </a:xfrm>
        </p:spPr>
        <p:txBody>
          <a:bodyPr wrap="square"/>
          <a:lstStyle/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Certifications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82712" y="474573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285F4"/>
                </a:solidFill>
                <a:latin typeface="Arial"/>
              </a:defRPr>
            </a:pPr>
            <a:r>
              <a:t>Orion</a:t>
            </a:r>
          </a:p>
        </p:txBody>
      </p:sp>
      <p:pic>
        <p:nvPicPr>
          <p:cNvPr id="5" name="Picture 4" descr="slide1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256095"/>
            <a:ext cx="3337560" cy="1993264"/>
          </a:xfrm>
          <a:prstGeom prst="rect">
            <a:avLst/>
          </a:prstGeom>
        </p:spPr>
      </p:pic>
      <p:pic>
        <p:nvPicPr>
          <p:cNvPr id="6" name="Picture 5" descr="slide1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256095"/>
            <a:ext cx="3337560" cy="1993264"/>
          </a:xfrm>
          <a:prstGeom prst="rect">
            <a:avLst/>
          </a:prstGeom>
        </p:spPr>
      </p:pic>
      <p:pic>
        <p:nvPicPr>
          <p:cNvPr id="7" name="Picture 6" descr="slide1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2770695"/>
            <a:ext cx="3337560" cy="1993264"/>
          </a:xfrm>
          <a:prstGeom prst="rect">
            <a:avLst/>
          </a:prstGeom>
        </p:spPr>
      </p:pic>
      <p:pic>
        <p:nvPicPr>
          <p:cNvPr id="8" name="Picture 7" descr="slide18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2765361"/>
            <a:ext cx="3447288" cy="20587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lide1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380744"/>
            <a:ext cx="3374136" cy="2386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1246</Words>
  <Application>Microsoft Office PowerPoint</Application>
  <PresentationFormat>On-screen Show (16:9)</PresentationFormat>
  <Paragraphs>181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PowerPoint Presentation</vt:lpstr>
      <vt:lpstr>Problem statement</vt:lpstr>
      <vt:lpstr>Scope</vt:lpstr>
      <vt:lpstr>Architecture Diagram</vt:lpstr>
      <vt:lpstr>Data Flow Diagram – DFD Level 0</vt:lpstr>
      <vt:lpstr>Data Flow Diagram – DFD Level 1</vt:lpstr>
      <vt:lpstr>Data Flow Diagram – DFD Level 2</vt:lpstr>
      <vt:lpstr>Use Case Diagram</vt:lpstr>
      <vt:lpstr>Activity Diagram</vt:lpstr>
      <vt:lpstr>Tech Stack​</vt:lpstr>
      <vt:lpstr>SDG Goals</vt:lpstr>
      <vt:lpstr>Literature Survey</vt:lpstr>
      <vt:lpstr>PowerPoint Presentation</vt:lpstr>
      <vt:lpstr>Expected Outcome</vt:lpstr>
      <vt:lpstr>References 1</vt:lpstr>
      <vt:lpstr>References 2</vt:lpstr>
      <vt:lpstr>References 3</vt:lpstr>
      <vt:lpstr>Certifications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Abhishek Mishra</cp:lastModifiedBy>
  <cp:revision>12</cp:revision>
  <dcterms:modified xsi:type="dcterms:W3CDTF">2026-04-17T07:12:18Z</dcterms:modified>
</cp:coreProperties>
</file>
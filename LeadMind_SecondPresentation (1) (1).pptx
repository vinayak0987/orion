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1"/>
  </p:notesMasterIdLst>
  <p:sldIdLst>
    <p:sldId id="256" r:id="rId2"/>
    <p:sldId id="257" r:id="rId3"/>
    <p:sldId id="258" r:id="rId4"/>
    <p:sldId id="263" r:id="rId5"/>
    <p:sldId id="269" r:id="rId6"/>
    <p:sldId id="271" r:id="rId7"/>
    <p:sldId id="272" r:id="rId8"/>
    <p:sldId id="274" r:id="rId9"/>
    <p:sldId id="276" r:id="rId10"/>
    <p:sldId id="259" r:id="rId11"/>
    <p:sldId id="266" r:id="rId12"/>
    <p:sldId id="265" r:id="rId13"/>
    <p:sldId id="267" r:id="rId14"/>
    <p:sldId id="264" r:id="rId15"/>
    <p:sldId id="268" r:id="rId16"/>
    <p:sldId id="260" r:id="rId17"/>
    <p:sldId id="261" r:id="rId18"/>
    <p:sldId id="278" r:id="rId19"/>
    <p:sldId id="262" r:id="rId2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30" autoAdjust="0"/>
    <p:restoredTop sz="94660"/>
  </p:normalViewPr>
  <p:slideViewPr>
    <p:cSldViewPr snapToGrid="0">
      <p:cViewPr varScale="1">
        <p:scale>
          <a:sx n="103" d="100"/>
          <a:sy n="103" d="100"/>
        </p:scale>
        <p:origin x="86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205245365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10ea48137fd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10ea48137fd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10ea48137fd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0ea48137fd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2DB1B9C-2D5D-92C7-4040-8327F1D8A36A}"/>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EF6A7C17-6446-AB46-95A4-D8BF7D158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7AF81AC0-5572-4762-5D34-ADAFB36F4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0381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2DB1B9C-2D5D-92C7-4040-8327F1D8A36A}"/>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EF6A7C17-6446-AB46-95A4-D8BF7D158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7AF81AC0-5572-4762-5D34-ADAFB36F4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0381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2DB1B9C-2D5D-92C7-4040-8327F1D8A36A}"/>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EF6A7C17-6446-AB46-95A4-D8BF7D158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7AF81AC0-5572-4762-5D34-ADAFB36F4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0381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2DB1B9C-2D5D-92C7-4040-8327F1D8A36A}"/>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EF6A7C17-6446-AB46-95A4-D8BF7D158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7AF81AC0-5572-4762-5D34-ADAFB36F4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0381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2DB1B9C-2D5D-92C7-4040-8327F1D8A36A}"/>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EF6A7C17-6446-AB46-95A4-D8BF7D158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7AF81AC0-5572-4762-5D34-ADAFB36F4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0381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22DB1B9C-2D5D-92C7-4040-8327F1D8A36A}"/>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EF6A7C17-6446-AB46-95A4-D8BF7D1588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7AF81AC0-5572-4762-5D34-ADAFB36F479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03816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0ea48137fd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a:extLst>
            <a:ext uri="{FF2B5EF4-FFF2-40B4-BE49-F238E27FC236}">
              <a16:creationId xmlns:a16="http://schemas.microsoft.com/office/drawing/2014/main" id="{4CE96EC8-1F8C-38A5-51FE-285B658F8E7A}"/>
            </a:ext>
          </a:extLst>
        </p:cNvPr>
        <p:cNvGrpSpPr/>
        <p:nvPr/>
      </p:nvGrpSpPr>
      <p:grpSpPr>
        <a:xfrm>
          <a:off x="0" y="0"/>
          <a:ext cx="0" cy="0"/>
          <a:chOff x="0" y="0"/>
          <a:chExt cx="0" cy="0"/>
        </a:xfrm>
      </p:grpSpPr>
      <p:sp>
        <p:nvSpPr>
          <p:cNvPr id="68" name="Google Shape;68;g10ea48137fd_0_18:notes">
            <a:extLst>
              <a:ext uri="{FF2B5EF4-FFF2-40B4-BE49-F238E27FC236}">
                <a16:creationId xmlns:a16="http://schemas.microsoft.com/office/drawing/2014/main" id="{F2CBB8EF-C0CA-D7A7-CB7E-AEB4A4DEE0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10ea48137fd_0_18:notes">
            <a:extLst>
              <a:ext uri="{FF2B5EF4-FFF2-40B4-BE49-F238E27FC236}">
                <a16:creationId xmlns:a16="http://schemas.microsoft.com/office/drawing/2014/main" id="{160ED294-678D-6D7F-5234-C46D96FA34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3731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5FDEC79D-D3C4-FD14-3F64-6099376FCD7B}"/>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EA97171B-2112-4A11-D6DC-81E752AF5D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8BF7A3F6-D9EC-6C82-7465-A6BCBC6F0F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02060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DA9B21D7-F6F1-4516-94AC-559DC37B6327}"/>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7AB768EB-C5BA-D9E4-315D-4662996CC0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050750FA-789E-FF8A-D3AB-8BE45DADF1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87088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1C8F126D-8B2A-B15E-2614-F175DA611181}"/>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777729DE-8975-3237-1632-073C3AF2C4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6136FCA2-CF93-C2FF-2DE2-98FB6E0AF2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1735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7F12532A-A808-D485-F74C-076E213AFC17}"/>
            </a:ext>
          </a:extLst>
        </p:cNvPr>
        <p:cNvGrpSpPr/>
        <p:nvPr/>
      </p:nvGrpSpPr>
      <p:grpSpPr>
        <a:xfrm>
          <a:off x="0" y="0"/>
          <a:ext cx="0" cy="0"/>
          <a:chOff x="0" y="0"/>
          <a:chExt cx="0" cy="0"/>
        </a:xfrm>
      </p:grpSpPr>
      <p:sp>
        <p:nvSpPr>
          <p:cNvPr id="75" name="Google Shape;75;g10ea48137fd_0_11:notes">
            <a:extLst>
              <a:ext uri="{FF2B5EF4-FFF2-40B4-BE49-F238E27FC236}">
                <a16:creationId xmlns:a16="http://schemas.microsoft.com/office/drawing/2014/main" id="{21F7070A-9633-591D-ABBD-9B639D7DCF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0ea48137fd_0_11:notes">
            <a:extLst>
              <a:ext uri="{FF2B5EF4-FFF2-40B4-BE49-F238E27FC236}">
                <a16:creationId xmlns:a16="http://schemas.microsoft.com/office/drawing/2014/main" id="{E8761982-DD81-32D5-DDD6-58CA936BDB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2443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10ea48137f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0ea48137f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a48137fd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a48137fd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0ea48137fd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0ea48137fd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0ea48137fd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0ea48137fd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ww.microsoft.com/en-us/dynamics-365/blog/it-professional/2025/10/21/sales-research-agent-sales-research-bench/"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arxiv.org/abs/2501.06322"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www.royalcyber.com/blogs/ai-ml/langgraph-multi-agent-workflows-enterprise-ai/"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311700" y="3103025"/>
            <a:ext cx="8520600" cy="1538400"/>
          </a:xfrm>
          <a:prstGeom prst="rect">
            <a:avLst/>
          </a:prstGeom>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400" dirty="0">
                <a:solidFill>
                  <a:schemeClr val="tx1"/>
                </a:solidFill>
              </a:rPr>
              <a:t>Student name: Aditya Maskare		Roll no: 102			 Division: B</a:t>
            </a:r>
            <a:endParaRPr sz="1400" dirty="0">
              <a:solidFill>
                <a:schemeClr val="tx1"/>
              </a:solidFill>
            </a:endParaRPr>
          </a:p>
          <a:p>
            <a:pPr marL="0" lvl="0" indent="0" algn="ctr" rtl="0">
              <a:spcBef>
                <a:spcPts val="0"/>
              </a:spcBef>
              <a:spcAft>
                <a:spcPts val="0"/>
              </a:spcAft>
              <a:buClr>
                <a:schemeClr val="dk1"/>
              </a:buClr>
              <a:buSzPts val="1100"/>
              <a:buFont typeface="Arial"/>
              <a:buNone/>
            </a:pPr>
            <a:r>
              <a:rPr lang="en" sz="1400" dirty="0">
                <a:solidFill>
                  <a:schemeClr val="tx1"/>
                </a:solidFill>
              </a:rPr>
              <a:t>Student name: Vinayak Maurya		Roll no: 103			 Division: B</a:t>
            </a:r>
            <a:endParaRPr sz="1400" dirty="0">
              <a:solidFill>
                <a:schemeClr val="tx1"/>
              </a:solidFill>
            </a:endParaRPr>
          </a:p>
          <a:p>
            <a:pPr marL="0" lvl="0" indent="0" algn="ctr" rtl="0">
              <a:spcBef>
                <a:spcPts val="0"/>
              </a:spcBef>
              <a:spcAft>
                <a:spcPts val="0"/>
              </a:spcAft>
              <a:buNone/>
            </a:pPr>
            <a:r>
              <a:rPr lang="en" sz="1400" dirty="0">
                <a:solidFill>
                  <a:schemeClr val="tx1"/>
                </a:solidFill>
              </a:rPr>
              <a:t>Student name: Abhishek Mishra		Roll no: 108			 Division: B</a:t>
            </a:r>
          </a:p>
          <a:p>
            <a:pPr marL="0" indent="0"/>
            <a:r>
              <a:rPr lang="en-US" sz="1400" dirty="0">
                <a:solidFill>
                  <a:schemeClr val="tx1"/>
                </a:solidFill>
              </a:rPr>
              <a:t>Student name: Aryan Mhaskar		Roll no: 106			 Division: B</a:t>
            </a:r>
          </a:p>
          <a:p>
            <a:pPr marL="0" lvl="0" indent="0" algn="ctr" rtl="0">
              <a:spcBef>
                <a:spcPts val="0"/>
              </a:spcBef>
              <a:spcAft>
                <a:spcPts val="0"/>
              </a:spcAft>
              <a:buNone/>
            </a:pPr>
            <a:endParaRPr sz="1400" dirty="0">
              <a:solidFill>
                <a:schemeClr val="tx1"/>
              </a:solidFill>
            </a:endParaRPr>
          </a:p>
          <a:p>
            <a:pPr marL="0" lvl="0" indent="0" algn="ctr" rtl="0">
              <a:spcBef>
                <a:spcPts val="0"/>
              </a:spcBef>
              <a:spcAft>
                <a:spcPts val="0"/>
              </a:spcAft>
              <a:buNone/>
            </a:pPr>
            <a:endParaRPr sz="1400" dirty="0">
              <a:solidFill>
                <a:schemeClr val="tx1"/>
              </a:solidFill>
            </a:endParaRPr>
          </a:p>
          <a:p>
            <a:pPr marL="0" lvl="0" indent="0" algn="ctr" rtl="0">
              <a:spcBef>
                <a:spcPts val="0"/>
              </a:spcBef>
              <a:spcAft>
                <a:spcPts val="0"/>
              </a:spcAft>
              <a:buClr>
                <a:schemeClr val="dk1"/>
              </a:buClr>
              <a:buSzPts val="1100"/>
              <a:buFont typeface="Arial"/>
              <a:buNone/>
            </a:pPr>
            <a:r>
              <a:rPr lang="en" sz="1400" dirty="0">
                <a:solidFill>
                  <a:schemeClr val="tx1"/>
                </a:solidFill>
              </a:rPr>
              <a:t>Under the Guidance of: Prof. Arathi Kamble</a:t>
            </a:r>
            <a:endParaRPr sz="1400" dirty="0">
              <a:solidFill>
                <a:schemeClr val="tx1"/>
              </a:solidFill>
            </a:endParaRPr>
          </a:p>
          <a:p>
            <a:pPr marL="0" lvl="0" indent="0" algn="ctr" rtl="0">
              <a:spcBef>
                <a:spcPts val="0"/>
              </a:spcBef>
              <a:spcAft>
                <a:spcPts val="0"/>
              </a:spcAft>
              <a:buNone/>
            </a:pPr>
            <a:endParaRPr sz="1400" dirty="0">
              <a:solidFill>
                <a:schemeClr val="tx1"/>
              </a:solidFill>
            </a:endParaRPr>
          </a:p>
        </p:txBody>
      </p:sp>
      <p:sp>
        <p:nvSpPr>
          <p:cNvPr id="55" name="Google Shape;55;p13"/>
          <p:cNvSpPr txBox="1"/>
          <p:nvPr/>
        </p:nvSpPr>
        <p:spPr>
          <a:xfrm>
            <a:off x="903000" y="2371710"/>
            <a:ext cx="7338000" cy="400079"/>
          </a:xfrm>
          <a:prstGeom prst="rect">
            <a:avLst/>
          </a:prstGeom>
          <a:noFill/>
          <a:ln>
            <a:noFill/>
          </a:ln>
        </p:spPr>
        <p:txBody>
          <a:bodyPr spcFirstLastPara="1" wrap="square" lIns="91425" tIns="91425" rIns="91425" bIns="91425" anchor="t" anchorCtr="0">
            <a:spAutoFit/>
          </a:bodyPr>
          <a:lstStyle/>
          <a:p>
            <a:pPr algn="ctr"/>
            <a:r>
              <a:rPr lang="en-US" b="1" dirty="0" err="1"/>
              <a:t>LeadMind</a:t>
            </a:r>
            <a:r>
              <a:rPr lang="en-US" b="1" dirty="0"/>
              <a:t> : Multi-Agent AI for Sales Engagement</a:t>
            </a:r>
            <a:endParaRPr lang="en-IN" dirty="0"/>
          </a:p>
        </p:txBody>
      </p:sp>
      <p:sp>
        <p:nvSpPr>
          <p:cNvPr id="56" name="Google Shape;56;p13"/>
          <p:cNvSpPr txBox="1"/>
          <p:nvPr/>
        </p:nvSpPr>
        <p:spPr>
          <a:xfrm>
            <a:off x="903000" y="1600046"/>
            <a:ext cx="7338000" cy="751200"/>
          </a:xfrm>
          <a:prstGeom prst="rect">
            <a:avLst/>
          </a:prstGeom>
          <a:noFill/>
          <a:ln>
            <a:noFill/>
          </a:ln>
        </p:spPr>
        <p:txBody>
          <a:bodyPr spcFirstLastPara="1" wrap="square" lIns="91425" tIns="91425" rIns="91425" bIns="91425" anchor="t" anchorCtr="0">
            <a:spAutoFit/>
          </a:bodyPr>
          <a:lstStyle/>
          <a:p>
            <a:pPr marL="457200" lvl="0" indent="0" algn="ctr" rtl="0">
              <a:spcBef>
                <a:spcPts val="0"/>
              </a:spcBef>
              <a:spcAft>
                <a:spcPts val="0"/>
              </a:spcAft>
              <a:buClr>
                <a:schemeClr val="dk1"/>
              </a:buClr>
              <a:buSzPts val="1100"/>
              <a:buFont typeface="Arial"/>
              <a:buNone/>
            </a:pPr>
            <a:r>
              <a:rPr lang="en" sz="2280" dirty="0">
                <a:solidFill>
                  <a:schemeClr val="dk1"/>
                </a:solidFill>
              </a:rPr>
              <a:t>DEPARTMENT OF COMPUTER ENGINEERING</a:t>
            </a:r>
            <a:endParaRPr sz="2280" dirty="0">
              <a:solidFill>
                <a:schemeClr val="dk1"/>
              </a:solidFill>
            </a:endParaRPr>
          </a:p>
          <a:p>
            <a:pPr marL="0" lvl="0" indent="0" algn="l" rtl="0">
              <a:spcBef>
                <a:spcPts val="0"/>
              </a:spcBef>
              <a:spcAft>
                <a:spcPts val="0"/>
              </a:spcAft>
              <a:buNone/>
            </a:pPr>
            <a:endParaRPr dirty="0"/>
          </a:p>
        </p:txBody>
      </p:sp>
      <p:pic>
        <p:nvPicPr>
          <p:cNvPr id="57" name="Google Shape;57;p13"/>
          <p:cNvPicPr preferRelativeResize="0"/>
          <p:nvPr/>
        </p:nvPicPr>
        <p:blipFill>
          <a:blip r:embed="rId3">
            <a:alphaModFix/>
          </a:blip>
          <a:stretch>
            <a:fillRect/>
          </a:stretch>
        </p:blipFill>
        <p:spPr>
          <a:xfrm>
            <a:off x="152400" y="152400"/>
            <a:ext cx="8520600" cy="1297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4"/>
          <p:cNvSpPr txBox="1">
            <a:spLocks noGrp="1"/>
          </p:cNvSpPr>
          <p:nvPr>
            <p:ph type="title"/>
          </p:nvPr>
        </p:nvSpPr>
        <p:spPr>
          <a:xfrm>
            <a:off x="31170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Problem statement</a:t>
            </a:r>
            <a:endParaRPr dirty="0"/>
          </a:p>
        </p:txBody>
      </p:sp>
      <p:sp>
        <p:nvSpPr>
          <p:cNvPr id="63" name="Google Shape;63;p14"/>
          <p:cNvSpPr txBox="1">
            <a:spLocks noGrp="1"/>
          </p:cNvSpPr>
          <p:nvPr>
            <p:ph type="body" idx="1"/>
          </p:nvPr>
        </p:nvSpPr>
        <p:spPr>
          <a:xfrm>
            <a:off x="388166" y="486473"/>
            <a:ext cx="8367667" cy="1099802"/>
          </a:xfrm>
          <a:prstGeom prst="rect">
            <a:avLst/>
          </a:prstGeom>
        </p:spPr>
        <p:txBody>
          <a:bodyPr spcFirstLastPara="1" wrap="square" lIns="91425" tIns="91425" rIns="91425" bIns="91425" anchor="t" anchorCtr="0">
            <a:noAutofit/>
          </a:bodyPr>
          <a:lstStyle/>
          <a:p>
            <a:pPr marL="0" lvl="0" indent="0">
              <a:lnSpc>
                <a:spcPct val="150000"/>
              </a:lnSpc>
              <a:spcAft>
                <a:spcPts val="1200"/>
              </a:spcAft>
              <a:buNone/>
            </a:pPr>
            <a:r>
              <a:rPr lang="en-US" sz="1200" dirty="0">
                <a:solidFill>
                  <a:schemeClr val="tx1"/>
                </a:solidFill>
              </a:rPr>
              <a:t>Modern outbound sales fail by using a "spray and pray" approach, sending generic messages that ignore a prospect’s specific needs and timing. Without real-time behavioral data, sales teams waste resources chasing low-intent leads who have no interest in buying. This lack of personalization causes prospects to tune out, leading to ignored outreach and stagnant pipelines. Ultimately, companies lose revenue by guessing who to target rather than using data to identify true buyer intent.</a:t>
            </a:r>
            <a:endParaRPr sz="1200" dirty="0">
              <a:solidFill>
                <a:schemeClr val="tx1"/>
              </a:solidFill>
            </a:endParaRPr>
          </a:p>
        </p:txBody>
      </p:sp>
      <p:sp>
        <p:nvSpPr>
          <p:cNvPr id="64" name="Google Shape;64;p14"/>
          <p:cNvSpPr txBox="1">
            <a:spLocks noGrp="1"/>
          </p:cNvSpPr>
          <p:nvPr>
            <p:ph type="title"/>
          </p:nvPr>
        </p:nvSpPr>
        <p:spPr>
          <a:xfrm>
            <a:off x="311700" y="199341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Objective</a:t>
            </a:r>
            <a:endParaRPr dirty="0"/>
          </a:p>
        </p:txBody>
      </p:sp>
      <p:sp>
        <p:nvSpPr>
          <p:cNvPr id="65" name="Google Shape;65;p14"/>
          <p:cNvSpPr txBox="1">
            <a:spLocks noGrp="1"/>
          </p:cNvSpPr>
          <p:nvPr>
            <p:ph type="body" idx="1"/>
          </p:nvPr>
        </p:nvSpPr>
        <p:spPr>
          <a:xfrm>
            <a:off x="311699" y="2545873"/>
            <a:ext cx="8520600" cy="1929850"/>
          </a:xfrm>
          <a:prstGeom prst="rect">
            <a:avLst/>
          </a:prstGeom>
        </p:spPr>
        <p:txBody>
          <a:bodyPr spcFirstLastPara="1" wrap="square" lIns="91425" tIns="91425" rIns="91425" bIns="91425" anchor="t" anchorCtr="0">
            <a:noAutofit/>
          </a:bodyPr>
          <a:lstStyle/>
          <a:p>
            <a:pPr fontAlgn="base">
              <a:lnSpc>
                <a:spcPct val="100000"/>
              </a:lnSpc>
              <a:buFont typeface="Arial" panose="020B0604020202020204" pitchFamily="34" charset="0"/>
              <a:buChar char="•"/>
            </a:pPr>
            <a:r>
              <a:rPr lang="en-US" sz="1200" b="1" dirty="0">
                <a:solidFill>
                  <a:schemeClr val="tx1"/>
                </a:solidFill>
              </a:rPr>
              <a:t>Automated Intelligence:</a:t>
            </a:r>
            <a:r>
              <a:rPr lang="en-US" sz="1200" dirty="0">
                <a:solidFill>
                  <a:schemeClr val="tx1"/>
                </a:solidFill>
              </a:rPr>
              <a:t> To automate lead segmentation and intent scoring using a hybrid approach of LLM reasoning and data-driven heuristics.​</a:t>
            </a:r>
          </a:p>
          <a:p>
            <a:pPr fontAlgn="base">
              <a:lnSpc>
                <a:spcPct val="100000"/>
              </a:lnSpc>
              <a:buFont typeface="Arial" panose="020B0604020202020204" pitchFamily="34" charset="0"/>
              <a:buChar char="•"/>
            </a:pPr>
            <a:endParaRPr lang="en-US" sz="1200" dirty="0">
              <a:solidFill>
                <a:schemeClr val="tx1"/>
              </a:solidFill>
            </a:endParaRPr>
          </a:p>
          <a:p>
            <a:pPr fontAlgn="base">
              <a:lnSpc>
                <a:spcPct val="100000"/>
              </a:lnSpc>
              <a:buFont typeface="Arial" panose="020B0604020202020204" pitchFamily="34" charset="0"/>
              <a:buChar char="•"/>
            </a:pPr>
            <a:r>
              <a:rPr lang="en-US" sz="1200" b="1" dirty="0">
                <a:solidFill>
                  <a:schemeClr val="tx1"/>
                </a:solidFill>
              </a:rPr>
              <a:t>Hyper-Personalization:</a:t>
            </a:r>
            <a:r>
              <a:rPr lang="en-US" sz="1200" dirty="0">
                <a:solidFill>
                  <a:schemeClr val="tx1"/>
                </a:solidFill>
              </a:rPr>
              <a:t> To generate tailored sales emails based on industry-specific data and real-time behavioral signals.​</a:t>
            </a:r>
          </a:p>
          <a:p>
            <a:pPr fontAlgn="base">
              <a:lnSpc>
                <a:spcPct val="100000"/>
              </a:lnSpc>
              <a:buFont typeface="Arial" panose="020B0604020202020204" pitchFamily="34" charset="0"/>
              <a:buChar char="•"/>
            </a:pPr>
            <a:endParaRPr lang="en-US" sz="1200" dirty="0">
              <a:solidFill>
                <a:schemeClr val="tx1"/>
              </a:solidFill>
            </a:endParaRPr>
          </a:p>
          <a:p>
            <a:pPr fontAlgn="base">
              <a:lnSpc>
                <a:spcPct val="100000"/>
              </a:lnSpc>
              <a:buFont typeface="Arial" panose="020B0604020202020204" pitchFamily="34" charset="0"/>
              <a:buChar char="•"/>
            </a:pPr>
            <a:r>
              <a:rPr lang="en-US" sz="1200" b="1" dirty="0">
                <a:solidFill>
                  <a:schemeClr val="tx1"/>
                </a:solidFill>
              </a:rPr>
              <a:t>Efficiency Optimization:</a:t>
            </a:r>
            <a:r>
              <a:rPr lang="en-US" sz="1200" dirty="0">
                <a:solidFill>
                  <a:schemeClr val="tx1"/>
                </a:solidFill>
              </a:rPr>
              <a:t> To determine the optimal follow-up timing to maximize engagement and minimize prospect "nudge fatigue.“​</a:t>
            </a:r>
          </a:p>
          <a:p>
            <a:pPr fontAlgn="base">
              <a:lnSpc>
                <a:spcPct val="100000"/>
              </a:lnSpc>
              <a:buFont typeface="Arial" panose="020B0604020202020204" pitchFamily="34" charset="0"/>
              <a:buChar char="•"/>
            </a:pPr>
            <a:endParaRPr lang="en-US" sz="1200" dirty="0">
              <a:solidFill>
                <a:schemeClr val="tx1"/>
              </a:solidFill>
            </a:endParaRPr>
          </a:p>
          <a:p>
            <a:pPr fontAlgn="base">
              <a:lnSpc>
                <a:spcPct val="100000"/>
              </a:lnSpc>
              <a:buFont typeface="Arial" panose="020B0604020202020204" pitchFamily="34" charset="0"/>
              <a:buChar char="•"/>
            </a:pPr>
            <a:r>
              <a:rPr lang="en-US" sz="1200" b="1" dirty="0">
                <a:solidFill>
                  <a:schemeClr val="tx1"/>
                </a:solidFill>
              </a:rPr>
              <a:t>Scalable Architecture:</a:t>
            </a:r>
            <a:r>
              <a:rPr lang="en-US" sz="1200" dirty="0">
                <a:solidFill>
                  <a:schemeClr val="tx1"/>
                </a:solidFill>
              </a:rPr>
              <a:t> To build a modular agentic workflow using </a:t>
            </a:r>
            <a:r>
              <a:rPr lang="en-US" sz="1200" dirty="0" err="1">
                <a:solidFill>
                  <a:schemeClr val="tx1"/>
                </a:solidFill>
              </a:rPr>
              <a:t>LangGraph</a:t>
            </a:r>
            <a:r>
              <a:rPr lang="en-US" sz="1200" dirty="0">
                <a:solidFill>
                  <a:schemeClr val="tx1"/>
                </a:solidFill>
              </a:rPr>
              <a:t> that integrates seamlessly with CRM systems.</a:t>
            </a:r>
          </a:p>
          <a:p>
            <a:pPr marL="171450" lvl="0" indent="-171450" algn="l" rtl="0">
              <a:lnSpc>
                <a:spcPct val="100000"/>
              </a:lnSpc>
              <a:spcBef>
                <a:spcPts val="0"/>
              </a:spcBef>
              <a:spcAft>
                <a:spcPts val="1200"/>
              </a:spcAft>
              <a:buFont typeface="Arial" panose="020B0604020202020204" pitchFamily="34" charset="0"/>
              <a:buChar char="•"/>
            </a:pPr>
            <a:endParaRPr sz="1200" dirty="0">
              <a:solidFill>
                <a:schemeClr val="tx1"/>
              </a:solidFill>
            </a:endParaRPr>
          </a:p>
        </p:txBody>
      </p:sp>
      <p:sp>
        <p:nvSpPr>
          <p:cNvPr id="66" name="Google Shape;66;p14"/>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t>LeadMind</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426630" y="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Scope</a:t>
            </a:r>
            <a:endParaRPr dirty="0"/>
          </a:p>
        </p:txBody>
      </p:sp>
      <p:sp>
        <p:nvSpPr>
          <p:cNvPr id="72" name="Google Shape;72;p15"/>
          <p:cNvSpPr txBox="1">
            <a:spLocks noGrp="1"/>
          </p:cNvSpPr>
          <p:nvPr>
            <p:ph type="body" idx="1"/>
          </p:nvPr>
        </p:nvSpPr>
        <p:spPr>
          <a:xfrm>
            <a:off x="196770" y="481563"/>
            <a:ext cx="8750460" cy="3416400"/>
          </a:xfrm>
          <a:prstGeom prst="rect">
            <a:avLst/>
          </a:prstGeom>
        </p:spPr>
        <p:txBody>
          <a:bodyPr spcFirstLastPara="1" wrap="square" lIns="91425" tIns="91425" rIns="91425" bIns="91425" anchor="t" anchorCtr="0">
            <a:noAutofit/>
          </a:bodyPr>
          <a:lstStyle/>
          <a:p>
            <a:pPr fontAlgn="base">
              <a:buFont typeface="Arial" panose="020B0604020202020204" pitchFamily="34" charset="0"/>
              <a:buChar char="•"/>
            </a:pPr>
            <a:r>
              <a:rPr lang="en-US" sz="1400" b="1" dirty="0">
                <a:solidFill>
                  <a:schemeClr val="tx1"/>
                </a:solidFill>
              </a:rPr>
              <a:t>Hyper-Personalization Engine:</a:t>
            </a:r>
            <a:r>
              <a:rPr lang="en-US" sz="1400" dirty="0">
                <a:solidFill>
                  <a:schemeClr val="tx1"/>
                </a:solidFill>
              </a:rPr>
              <a:t> Generating tailored messaging for different personas and industries using AI, ensuring every touchpoint feels manual and researched.​</a:t>
            </a:r>
          </a:p>
          <a:p>
            <a:pPr marL="114300" indent="0" fontAlgn="base">
              <a:buNone/>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Behavioral Intent Tracking:</a:t>
            </a:r>
            <a:r>
              <a:rPr lang="en-US" sz="1400" dirty="0">
                <a:solidFill>
                  <a:schemeClr val="tx1"/>
                </a:solidFill>
              </a:rPr>
              <a:t> Monitoring real-time signals such as email opens, link clicks, and website visits to score prospect interest levels dynamically.​</a:t>
            </a:r>
          </a:p>
          <a:p>
            <a:pPr marL="114300" indent="0" fontAlgn="base">
              <a:buNone/>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Multi-Channel Orchestration:</a:t>
            </a:r>
            <a:r>
              <a:rPr lang="en-US" sz="1400" dirty="0">
                <a:solidFill>
                  <a:schemeClr val="tx1"/>
                </a:solidFill>
              </a:rPr>
              <a:t> Coordinating touchpoints across </a:t>
            </a:r>
            <a:r>
              <a:rPr lang="en-US" sz="1400" b="1" dirty="0">
                <a:solidFill>
                  <a:schemeClr val="tx1"/>
                </a:solidFill>
              </a:rPr>
              <a:t>Email, LinkedIn, and targeted display ads</a:t>
            </a:r>
            <a:r>
              <a:rPr lang="en-US" sz="1400" dirty="0">
                <a:solidFill>
                  <a:schemeClr val="tx1"/>
                </a:solidFill>
              </a:rPr>
              <a:t> to create an unified brand presence.​</a:t>
            </a:r>
          </a:p>
          <a:p>
            <a:pPr marL="114300" indent="0" fontAlgn="base">
              <a:buNone/>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Automated Iteration (A/B Testing):</a:t>
            </a:r>
            <a:r>
              <a:rPr lang="en-US" sz="1400" dirty="0">
                <a:solidFill>
                  <a:schemeClr val="tx1"/>
                </a:solidFill>
              </a:rPr>
              <a:t> Systematically testing subject lines, call-to-actions, and sending times to identify and scale the highest-converting strategies.​</a:t>
            </a:r>
          </a:p>
          <a:p>
            <a:pPr marL="114300" indent="0" fontAlgn="base">
              <a:buNone/>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CRM Hygiene &amp; Synchronization:</a:t>
            </a:r>
            <a:r>
              <a:rPr lang="en-US" sz="1400" dirty="0">
                <a:solidFill>
                  <a:schemeClr val="tx1"/>
                </a:solidFill>
              </a:rPr>
              <a:t> Real-time updating of lead statuses, interaction history, and "do-not-contact" lists to prevent manual entry errors and sales overlap.​</a:t>
            </a:r>
          </a:p>
          <a:p>
            <a:pPr marL="114300" indent="0" fontAlgn="base">
              <a:buNone/>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Predictive Revenue Analytics:</a:t>
            </a:r>
            <a:r>
              <a:rPr lang="en-US" sz="1400" dirty="0">
                <a:solidFill>
                  <a:schemeClr val="tx1"/>
                </a:solidFill>
              </a:rPr>
              <a:t> Providing dashboards that forecast pipeline growth based on current engagement rates and lead quality.</a:t>
            </a:r>
          </a:p>
          <a:p>
            <a:pPr marL="285750" lvl="0" indent="-285750" algn="l" rtl="0">
              <a:spcBef>
                <a:spcPts val="0"/>
              </a:spcBef>
              <a:spcAft>
                <a:spcPts val="1200"/>
              </a:spcAft>
              <a:buFont typeface="Arial" panose="020B0604020202020204" pitchFamily="34" charset="0"/>
              <a:buChar char="•"/>
            </a:pPr>
            <a:endParaRPr sz="1400" dirty="0">
              <a:solidFill>
                <a:schemeClr val="tx1"/>
              </a:solidFill>
            </a:endParaRPr>
          </a:p>
        </p:txBody>
      </p:sp>
      <p:sp>
        <p:nvSpPr>
          <p:cNvPr id="2" name="Google Shape;66;p14">
            <a:extLst>
              <a:ext uri="{FF2B5EF4-FFF2-40B4-BE49-F238E27FC236}">
                <a16:creationId xmlns:a16="http://schemas.microsoft.com/office/drawing/2014/main" id="{876878FB-6AE8-E1EE-6C3D-A9BD1DBD0F7D}"/>
              </a:ext>
            </a:extLst>
          </p:cNvPr>
          <p:cNvSpPr txBox="1"/>
          <p:nvPr/>
        </p:nvSpPr>
        <p:spPr>
          <a:xfrm>
            <a:off x="7981517" y="4743421"/>
            <a:ext cx="1095575" cy="615523"/>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a:p>
            <a:pPr marL="0" lvl="0" indent="0" algn="l" rtl="0">
              <a:spcBef>
                <a:spcPts val="0"/>
              </a:spcBef>
              <a:spcAft>
                <a:spcPts val="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282F1A3-6734-69B4-294E-43F93D7BF5F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77F9CCD8-8D4B-2090-C0DA-28D61F909E0F}"/>
              </a:ext>
            </a:extLst>
          </p:cNvPr>
          <p:cNvSpPr txBox="1">
            <a:spLocks noGrp="1"/>
          </p:cNvSpPr>
          <p:nvPr>
            <p:ph type="title"/>
          </p:nvPr>
        </p:nvSpPr>
        <p:spPr>
          <a:xfrm>
            <a:off x="311700" y="80752"/>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t>Architecture Diagram</a:t>
            </a:r>
            <a:endParaRPr sz="2000" dirty="0"/>
          </a:p>
        </p:txBody>
      </p:sp>
      <p:sp>
        <p:nvSpPr>
          <p:cNvPr id="3" name="Google Shape;66;p14">
            <a:extLst>
              <a:ext uri="{FF2B5EF4-FFF2-40B4-BE49-F238E27FC236}">
                <a16:creationId xmlns:a16="http://schemas.microsoft.com/office/drawing/2014/main" id="{233003B6-0B58-4683-E838-FA4B0BEBA555}"/>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pic>
        <p:nvPicPr>
          <p:cNvPr id="1028" name="Picture 4" descr="A screenshot of a computer&#10;&#10;AI-generated content may be incorrect.">
            <a:extLst>
              <a:ext uri="{FF2B5EF4-FFF2-40B4-BE49-F238E27FC236}">
                <a16:creationId xmlns:a16="http://schemas.microsoft.com/office/drawing/2014/main" id="{AF2483D4-7AFA-D682-E28F-64E267811E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5410" y="313325"/>
            <a:ext cx="6353175" cy="4543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3644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282F1A3-6734-69B4-294E-43F93D7BF5F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77F9CCD8-8D4B-2090-C0DA-28D61F909E0F}"/>
              </a:ext>
            </a:extLst>
          </p:cNvPr>
          <p:cNvSpPr txBox="1">
            <a:spLocks noGrp="1"/>
          </p:cNvSpPr>
          <p:nvPr>
            <p:ph type="title"/>
          </p:nvPr>
        </p:nvSpPr>
        <p:spPr>
          <a:xfrm>
            <a:off x="311700" y="80752"/>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t>Data Flow Diagram – DFD Level 0</a:t>
            </a:r>
            <a:endParaRPr sz="2000" dirty="0"/>
          </a:p>
        </p:txBody>
      </p:sp>
      <p:sp>
        <p:nvSpPr>
          <p:cNvPr id="3" name="Google Shape;66;p14">
            <a:extLst>
              <a:ext uri="{FF2B5EF4-FFF2-40B4-BE49-F238E27FC236}">
                <a16:creationId xmlns:a16="http://schemas.microsoft.com/office/drawing/2014/main" id="{233003B6-0B58-4683-E838-FA4B0BEBA555}"/>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pic>
        <p:nvPicPr>
          <p:cNvPr id="4" name="Picture 3">
            <a:extLst>
              <a:ext uri="{FF2B5EF4-FFF2-40B4-BE49-F238E27FC236}">
                <a16:creationId xmlns:a16="http://schemas.microsoft.com/office/drawing/2014/main" id="{ABD1D0C0-CDC6-419C-284B-E888E1C737AF}"/>
              </a:ext>
            </a:extLst>
          </p:cNvPr>
          <p:cNvPicPr>
            <a:picLocks noChangeAspect="1"/>
          </p:cNvPicPr>
          <p:nvPr/>
        </p:nvPicPr>
        <p:blipFill>
          <a:blip r:embed="rId3"/>
          <a:stretch>
            <a:fillRect/>
          </a:stretch>
        </p:blipFill>
        <p:spPr>
          <a:xfrm>
            <a:off x="1369736" y="653452"/>
            <a:ext cx="6220527" cy="4024143"/>
          </a:xfrm>
          <a:prstGeom prst="rect">
            <a:avLst/>
          </a:prstGeom>
        </p:spPr>
      </p:pic>
    </p:spTree>
    <p:extLst>
      <p:ext uri="{BB962C8B-B14F-4D97-AF65-F5344CB8AC3E}">
        <p14:creationId xmlns:p14="http://schemas.microsoft.com/office/powerpoint/2010/main" val="3830401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282F1A3-6734-69B4-294E-43F93D7BF5F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77F9CCD8-8D4B-2090-C0DA-28D61F909E0F}"/>
              </a:ext>
            </a:extLst>
          </p:cNvPr>
          <p:cNvSpPr txBox="1">
            <a:spLocks noGrp="1"/>
          </p:cNvSpPr>
          <p:nvPr>
            <p:ph type="title"/>
          </p:nvPr>
        </p:nvSpPr>
        <p:spPr>
          <a:xfrm>
            <a:off x="311700" y="80752"/>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t>Data Flow Diagram – DFD Level 1</a:t>
            </a:r>
            <a:endParaRPr sz="2000" dirty="0"/>
          </a:p>
        </p:txBody>
      </p:sp>
      <p:sp>
        <p:nvSpPr>
          <p:cNvPr id="3" name="Google Shape;66;p14">
            <a:extLst>
              <a:ext uri="{FF2B5EF4-FFF2-40B4-BE49-F238E27FC236}">
                <a16:creationId xmlns:a16="http://schemas.microsoft.com/office/drawing/2014/main" id="{233003B6-0B58-4683-E838-FA4B0BEBA555}"/>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pic>
        <p:nvPicPr>
          <p:cNvPr id="2" name="Picture 1">
            <a:extLst>
              <a:ext uri="{FF2B5EF4-FFF2-40B4-BE49-F238E27FC236}">
                <a16:creationId xmlns:a16="http://schemas.microsoft.com/office/drawing/2014/main" id="{316160BA-D19D-A4B0-541C-E2AA73E86A40}"/>
              </a:ext>
            </a:extLst>
          </p:cNvPr>
          <p:cNvPicPr>
            <a:picLocks noChangeAspect="1"/>
          </p:cNvPicPr>
          <p:nvPr/>
        </p:nvPicPr>
        <p:blipFill>
          <a:blip r:embed="rId3"/>
          <a:stretch>
            <a:fillRect/>
          </a:stretch>
        </p:blipFill>
        <p:spPr>
          <a:xfrm>
            <a:off x="535258" y="582807"/>
            <a:ext cx="7906832" cy="4160614"/>
          </a:xfrm>
          <a:prstGeom prst="rect">
            <a:avLst/>
          </a:prstGeom>
        </p:spPr>
      </p:pic>
    </p:spTree>
    <p:extLst>
      <p:ext uri="{BB962C8B-B14F-4D97-AF65-F5344CB8AC3E}">
        <p14:creationId xmlns:p14="http://schemas.microsoft.com/office/powerpoint/2010/main" val="3157835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282F1A3-6734-69B4-294E-43F93D7BF5F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77F9CCD8-8D4B-2090-C0DA-28D61F909E0F}"/>
              </a:ext>
            </a:extLst>
          </p:cNvPr>
          <p:cNvSpPr txBox="1">
            <a:spLocks noGrp="1"/>
          </p:cNvSpPr>
          <p:nvPr>
            <p:ph type="title"/>
          </p:nvPr>
        </p:nvSpPr>
        <p:spPr>
          <a:xfrm>
            <a:off x="288052"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t>Data Flow Diagram – DFD Level 2</a:t>
            </a:r>
            <a:endParaRPr sz="2000" dirty="0"/>
          </a:p>
        </p:txBody>
      </p:sp>
      <p:sp>
        <p:nvSpPr>
          <p:cNvPr id="3" name="Google Shape;66;p14">
            <a:extLst>
              <a:ext uri="{FF2B5EF4-FFF2-40B4-BE49-F238E27FC236}">
                <a16:creationId xmlns:a16="http://schemas.microsoft.com/office/drawing/2014/main" id="{233003B6-0B58-4683-E838-FA4B0BEBA555}"/>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pic>
        <p:nvPicPr>
          <p:cNvPr id="6" name="Picture 5">
            <a:extLst>
              <a:ext uri="{FF2B5EF4-FFF2-40B4-BE49-F238E27FC236}">
                <a16:creationId xmlns:a16="http://schemas.microsoft.com/office/drawing/2014/main" id="{B68D7726-9C0B-33D1-4361-707ADEEF9BD7}"/>
              </a:ext>
            </a:extLst>
          </p:cNvPr>
          <p:cNvPicPr>
            <a:picLocks noChangeAspect="1"/>
          </p:cNvPicPr>
          <p:nvPr/>
        </p:nvPicPr>
        <p:blipFill>
          <a:blip r:embed="rId3"/>
          <a:stretch>
            <a:fillRect/>
          </a:stretch>
        </p:blipFill>
        <p:spPr>
          <a:xfrm>
            <a:off x="996176" y="589992"/>
            <a:ext cx="7040136" cy="3963516"/>
          </a:xfrm>
          <a:prstGeom prst="rect">
            <a:avLst/>
          </a:prstGeom>
        </p:spPr>
      </p:pic>
    </p:spTree>
    <p:extLst>
      <p:ext uri="{BB962C8B-B14F-4D97-AF65-F5344CB8AC3E}">
        <p14:creationId xmlns:p14="http://schemas.microsoft.com/office/powerpoint/2010/main" val="94912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282F1A3-6734-69B4-294E-43F93D7BF5F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77F9CCD8-8D4B-2090-C0DA-28D61F909E0F}"/>
              </a:ext>
            </a:extLst>
          </p:cNvPr>
          <p:cNvSpPr txBox="1">
            <a:spLocks noGrp="1"/>
          </p:cNvSpPr>
          <p:nvPr>
            <p:ph type="title"/>
          </p:nvPr>
        </p:nvSpPr>
        <p:spPr>
          <a:xfrm>
            <a:off x="288052"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t>Use Case Diagram</a:t>
            </a:r>
            <a:endParaRPr sz="2000" dirty="0"/>
          </a:p>
        </p:txBody>
      </p:sp>
      <p:sp>
        <p:nvSpPr>
          <p:cNvPr id="3" name="Google Shape;66;p14">
            <a:extLst>
              <a:ext uri="{FF2B5EF4-FFF2-40B4-BE49-F238E27FC236}">
                <a16:creationId xmlns:a16="http://schemas.microsoft.com/office/drawing/2014/main" id="{233003B6-0B58-4683-E838-FA4B0BEBA555}"/>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pic>
        <p:nvPicPr>
          <p:cNvPr id="5" name="Picture 4">
            <a:extLst>
              <a:ext uri="{FF2B5EF4-FFF2-40B4-BE49-F238E27FC236}">
                <a16:creationId xmlns:a16="http://schemas.microsoft.com/office/drawing/2014/main" id="{B54F25CA-B522-C72F-FD4A-EFBED1E37AF7}"/>
              </a:ext>
            </a:extLst>
          </p:cNvPr>
          <p:cNvPicPr>
            <a:picLocks noChangeAspect="1"/>
          </p:cNvPicPr>
          <p:nvPr/>
        </p:nvPicPr>
        <p:blipFill>
          <a:blip r:embed="rId3"/>
          <a:srcRect t="5534" r="760"/>
          <a:stretch>
            <a:fillRect/>
          </a:stretch>
        </p:blipFill>
        <p:spPr>
          <a:xfrm>
            <a:off x="1367293" y="401442"/>
            <a:ext cx="5828960" cy="4014875"/>
          </a:xfrm>
          <a:prstGeom prst="rect">
            <a:avLst/>
          </a:prstGeom>
        </p:spPr>
      </p:pic>
    </p:spTree>
    <p:extLst>
      <p:ext uri="{BB962C8B-B14F-4D97-AF65-F5344CB8AC3E}">
        <p14:creationId xmlns:p14="http://schemas.microsoft.com/office/powerpoint/2010/main" val="2206072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282F1A3-6734-69B4-294E-43F93D7BF5F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77F9CCD8-8D4B-2090-C0DA-28D61F909E0F}"/>
              </a:ext>
            </a:extLst>
          </p:cNvPr>
          <p:cNvSpPr txBox="1">
            <a:spLocks noGrp="1"/>
          </p:cNvSpPr>
          <p:nvPr>
            <p:ph type="title"/>
          </p:nvPr>
        </p:nvSpPr>
        <p:spPr>
          <a:xfrm>
            <a:off x="288052"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dirty="0"/>
              <a:t>Activity Diagram</a:t>
            </a:r>
            <a:endParaRPr sz="2000" dirty="0"/>
          </a:p>
        </p:txBody>
      </p:sp>
      <p:sp>
        <p:nvSpPr>
          <p:cNvPr id="3" name="Google Shape;66;p14">
            <a:extLst>
              <a:ext uri="{FF2B5EF4-FFF2-40B4-BE49-F238E27FC236}">
                <a16:creationId xmlns:a16="http://schemas.microsoft.com/office/drawing/2014/main" id="{233003B6-0B58-4683-E838-FA4B0BEBA555}"/>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pic>
        <p:nvPicPr>
          <p:cNvPr id="717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4243" t="15888" r="23691" b="4906"/>
          <a:stretch/>
        </p:blipFill>
        <p:spPr bwMode="auto">
          <a:xfrm>
            <a:off x="1994337" y="402021"/>
            <a:ext cx="5155326" cy="46837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08955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63739" y="332680"/>
            <a:ext cx="8520600" cy="572700"/>
          </a:xfrm>
          <a:prstGeom prst="rect">
            <a:avLst/>
          </a:prstGeom>
        </p:spPr>
        <p:txBody>
          <a:bodyPr spcFirstLastPara="1" wrap="square" lIns="91425" tIns="91425" rIns="91425" bIns="91425" anchor="t" anchorCtr="0">
            <a:normAutofit fontScale="90000"/>
          </a:bodyPr>
          <a:lstStyle/>
          <a:p>
            <a:pPr lvl="0"/>
            <a:r>
              <a:rPr lang="en-IN" dirty="0"/>
              <a:t>Tech Stack​</a:t>
            </a:r>
            <a:endParaRPr dirty="0"/>
          </a:p>
        </p:txBody>
      </p:sp>
      <p:sp>
        <p:nvSpPr>
          <p:cNvPr id="79" name="Google Shape;79;p16"/>
          <p:cNvSpPr txBox="1">
            <a:spLocks noGrp="1"/>
          </p:cNvSpPr>
          <p:nvPr>
            <p:ph type="body" idx="1"/>
          </p:nvPr>
        </p:nvSpPr>
        <p:spPr>
          <a:xfrm>
            <a:off x="311700" y="871815"/>
            <a:ext cx="4153315" cy="2624254"/>
          </a:xfrm>
          <a:prstGeom prst="rect">
            <a:avLst/>
          </a:prstGeom>
        </p:spPr>
        <p:txBody>
          <a:bodyPr spcFirstLastPara="1" wrap="square" lIns="91425" tIns="91425" rIns="91425" bIns="91425" anchor="t" anchorCtr="0">
            <a:noAutofit/>
          </a:bodyPr>
          <a:lstStyle/>
          <a:p>
            <a:pPr fontAlgn="base">
              <a:buFont typeface="Arial" panose="020B0604020202020204" pitchFamily="34" charset="0"/>
              <a:buChar char="•"/>
            </a:pPr>
            <a:r>
              <a:rPr lang="en-US" sz="1400" b="1" dirty="0">
                <a:solidFill>
                  <a:schemeClr val="tx1"/>
                </a:solidFill>
              </a:rPr>
              <a:t>Orchestration:</a:t>
            </a:r>
            <a:r>
              <a:rPr lang="en-US" sz="1400" dirty="0">
                <a:solidFill>
                  <a:schemeClr val="tx1"/>
                </a:solidFill>
              </a:rPr>
              <a:t> </a:t>
            </a:r>
            <a:r>
              <a:rPr lang="en-US" sz="1400" dirty="0" err="1">
                <a:solidFill>
                  <a:schemeClr val="tx1"/>
                </a:solidFill>
              </a:rPr>
              <a:t>LangGraph</a:t>
            </a:r>
            <a:r>
              <a:rPr lang="en-US" sz="1400" dirty="0">
                <a:solidFill>
                  <a:schemeClr val="tx1"/>
                </a:solidFill>
              </a:rPr>
              <a:t> (</a:t>
            </a:r>
            <a:r>
              <a:rPr lang="en-US" sz="1400" dirty="0" err="1">
                <a:solidFill>
                  <a:schemeClr val="tx1"/>
                </a:solidFill>
              </a:rPr>
              <a:t>stateful,multi</a:t>
            </a:r>
            <a:r>
              <a:rPr lang="en-US" sz="1400" dirty="0">
                <a:solidFill>
                  <a:schemeClr val="tx1"/>
                </a:solidFill>
              </a:rPr>
              <a:t>-agent coordination)​</a:t>
            </a:r>
          </a:p>
          <a:p>
            <a:pPr fontAlgn="base">
              <a:buFont typeface="Arial" panose="020B0604020202020204" pitchFamily="34" charset="0"/>
              <a:buChar char="•"/>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LLM Core:</a:t>
            </a:r>
            <a:r>
              <a:rPr lang="en-US" sz="1400" dirty="0">
                <a:solidFill>
                  <a:schemeClr val="tx1"/>
                </a:solidFill>
              </a:rPr>
              <a:t> Google Gemini 1.5 Pro(reasoning) &amp; Gemini 1.5 Flash (speed)​ or </a:t>
            </a:r>
            <a:r>
              <a:rPr lang="en-US" sz="1400" dirty="0" err="1">
                <a:solidFill>
                  <a:schemeClr val="tx1"/>
                </a:solidFill>
              </a:rPr>
              <a:t>ollama</a:t>
            </a:r>
            <a:endParaRPr lang="en-US" sz="1400" dirty="0">
              <a:solidFill>
                <a:schemeClr val="tx1"/>
              </a:solidFill>
            </a:endParaRPr>
          </a:p>
          <a:p>
            <a:pPr fontAlgn="base">
              <a:buFont typeface="Arial" panose="020B0604020202020204" pitchFamily="34" charset="0"/>
              <a:buChar char="•"/>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Backend:</a:t>
            </a:r>
            <a:r>
              <a:rPr lang="en-US" sz="1400" dirty="0">
                <a:solidFill>
                  <a:schemeClr val="tx1"/>
                </a:solidFill>
              </a:rPr>
              <a:t> Python (Pandas for data handling, NumPy for scoring)​</a:t>
            </a:r>
          </a:p>
          <a:p>
            <a:pPr fontAlgn="base">
              <a:buFont typeface="Arial" panose="020B0604020202020204" pitchFamily="34" charset="0"/>
              <a:buChar char="•"/>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Storage:</a:t>
            </a:r>
            <a:r>
              <a:rPr lang="en-US" sz="1400" dirty="0">
                <a:solidFill>
                  <a:schemeClr val="tx1"/>
                </a:solidFill>
              </a:rPr>
              <a:t> PostgreSQL + Vector Database(lead/context memory) and </a:t>
            </a:r>
            <a:r>
              <a:rPr lang="en-US" sz="1400" dirty="0" err="1">
                <a:solidFill>
                  <a:schemeClr val="tx1"/>
                </a:solidFill>
              </a:rPr>
              <a:t>MongoDB</a:t>
            </a:r>
            <a:r>
              <a:rPr lang="en-US" sz="1400" dirty="0">
                <a:solidFill>
                  <a:schemeClr val="tx1"/>
                </a:solidFill>
              </a:rPr>
              <a:t>​</a:t>
            </a:r>
          </a:p>
          <a:p>
            <a:pPr fontAlgn="base">
              <a:buFont typeface="Arial" panose="020B0604020202020204" pitchFamily="34" charset="0"/>
              <a:buChar char="•"/>
            </a:pPr>
            <a:endParaRPr lang="en-US" sz="1400" dirty="0">
              <a:solidFill>
                <a:schemeClr val="tx1"/>
              </a:solidFill>
            </a:endParaRPr>
          </a:p>
          <a:p>
            <a:pPr fontAlgn="base">
              <a:buFont typeface="Arial" panose="020B0604020202020204" pitchFamily="34" charset="0"/>
              <a:buChar char="•"/>
            </a:pPr>
            <a:r>
              <a:rPr lang="en-US" sz="1400" b="1" dirty="0">
                <a:solidFill>
                  <a:schemeClr val="tx1"/>
                </a:solidFill>
              </a:rPr>
              <a:t>Frameworks:</a:t>
            </a:r>
            <a:r>
              <a:rPr lang="en-US" sz="1400" dirty="0">
                <a:solidFill>
                  <a:schemeClr val="tx1"/>
                </a:solidFill>
              </a:rPr>
              <a:t> </a:t>
            </a:r>
            <a:r>
              <a:rPr lang="en-US" sz="1400" dirty="0" err="1">
                <a:solidFill>
                  <a:schemeClr val="tx1"/>
                </a:solidFill>
              </a:rPr>
              <a:t>LangChain</a:t>
            </a:r>
            <a:r>
              <a:rPr lang="en-US" sz="1400" dirty="0">
                <a:solidFill>
                  <a:schemeClr val="tx1"/>
                </a:solidFill>
              </a:rPr>
              <a:t>, </a:t>
            </a:r>
            <a:r>
              <a:rPr lang="en-US" sz="1400" dirty="0" err="1">
                <a:solidFill>
                  <a:schemeClr val="tx1"/>
                </a:solidFill>
              </a:rPr>
              <a:t>Pydantic</a:t>
            </a:r>
            <a:r>
              <a:rPr lang="en-US" sz="1400" dirty="0">
                <a:solidFill>
                  <a:schemeClr val="tx1"/>
                </a:solidFill>
              </a:rPr>
              <a:t>(state &amp; schema management)​</a:t>
            </a:r>
          </a:p>
        </p:txBody>
      </p:sp>
      <p:pic>
        <p:nvPicPr>
          <p:cNvPr id="2052" name="Picture 4" descr="A diagram of a computer&#10;&#10;AI-generated content may be incorrect.">
            <a:extLst>
              <a:ext uri="{FF2B5EF4-FFF2-40B4-BE49-F238E27FC236}">
                <a16:creationId xmlns:a16="http://schemas.microsoft.com/office/drawing/2014/main" id="{08E013E0-3690-B812-883F-5C7B0E8BA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3805" y="267395"/>
            <a:ext cx="4543425" cy="4543425"/>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66;p14">
            <a:extLst>
              <a:ext uri="{FF2B5EF4-FFF2-40B4-BE49-F238E27FC236}">
                <a16:creationId xmlns:a16="http://schemas.microsoft.com/office/drawing/2014/main" id="{192B0493-E055-8C3E-C447-9988ADD01991}"/>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0">
          <a:extLst>
            <a:ext uri="{FF2B5EF4-FFF2-40B4-BE49-F238E27FC236}">
              <a16:creationId xmlns:a16="http://schemas.microsoft.com/office/drawing/2014/main" id="{1CF412F3-06D7-54D4-0ACB-60F8F0824FC5}"/>
            </a:ext>
          </a:extLst>
        </p:cNvPr>
        <p:cNvGrpSpPr/>
        <p:nvPr/>
      </p:nvGrpSpPr>
      <p:grpSpPr>
        <a:xfrm>
          <a:off x="0" y="0"/>
          <a:ext cx="0" cy="0"/>
          <a:chOff x="0" y="0"/>
          <a:chExt cx="0" cy="0"/>
        </a:xfrm>
      </p:grpSpPr>
      <p:sp>
        <p:nvSpPr>
          <p:cNvPr id="71" name="Google Shape;71;p15">
            <a:extLst>
              <a:ext uri="{FF2B5EF4-FFF2-40B4-BE49-F238E27FC236}">
                <a16:creationId xmlns:a16="http://schemas.microsoft.com/office/drawing/2014/main" id="{49B334B4-D227-426F-BE6F-3356AC6C09EB}"/>
              </a:ext>
            </a:extLst>
          </p:cNvPr>
          <p:cNvSpPr txBox="1">
            <a:spLocks noGrp="1"/>
          </p:cNvSpPr>
          <p:nvPr>
            <p:ph type="title"/>
          </p:nvPr>
        </p:nvSpPr>
        <p:spPr>
          <a:xfrm>
            <a:off x="415625" y="37811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SDG Goals</a:t>
            </a:r>
            <a:endParaRPr dirty="0"/>
          </a:p>
        </p:txBody>
      </p:sp>
      <p:sp>
        <p:nvSpPr>
          <p:cNvPr id="72" name="Google Shape;72;p15">
            <a:extLst>
              <a:ext uri="{FF2B5EF4-FFF2-40B4-BE49-F238E27FC236}">
                <a16:creationId xmlns:a16="http://schemas.microsoft.com/office/drawing/2014/main" id="{F226ED37-1830-E27D-DC73-29DABC0F18CA}"/>
              </a:ext>
            </a:extLst>
          </p:cNvPr>
          <p:cNvSpPr txBox="1">
            <a:spLocks noGrp="1"/>
          </p:cNvSpPr>
          <p:nvPr>
            <p:ph type="body" idx="1"/>
          </p:nvPr>
        </p:nvSpPr>
        <p:spPr>
          <a:xfrm>
            <a:off x="311700" y="1182212"/>
            <a:ext cx="8520600" cy="1724540"/>
          </a:xfrm>
          <a:prstGeom prst="rect">
            <a:avLst/>
          </a:prstGeom>
        </p:spPr>
        <p:txBody>
          <a:bodyPr spcFirstLastPara="1" wrap="square" lIns="91425" tIns="91425" rIns="91425" bIns="91425" anchor="t" anchorCtr="0">
            <a:noAutofit/>
          </a:bodyPr>
          <a:lstStyle/>
          <a:p>
            <a:pPr fontAlgn="base">
              <a:buFont typeface="Arial" panose="020B0604020202020204" pitchFamily="34" charset="0"/>
              <a:buChar char="•"/>
            </a:pPr>
            <a:r>
              <a:rPr lang="en-US" sz="1600" b="1" dirty="0">
                <a:solidFill>
                  <a:schemeClr val="tx1"/>
                </a:solidFill>
              </a:rPr>
              <a:t>Goal 8: Decent Work and Economic Growth:</a:t>
            </a:r>
            <a:r>
              <a:rPr lang="en-US" sz="1600" dirty="0">
                <a:solidFill>
                  <a:schemeClr val="tx1"/>
                </a:solidFill>
              </a:rPr>
              <a:t> Enhancing economic productivity through technological innovation and automation of repetitive research tasks.​</a:t>
            </a:r>
          </a:p>
          <a:p>
            <a:pPr fontAlgn="base">
              <a:buFont typeface="Arial" panose="020B0604020202020204" pitchFamily="34" charset="0"/>
              <a:buChar char="•"/>
            </a:pPr>
            <a:endParaRPr lang="en-US" sz="1600" dirty="0">
              <a:solidFill>
                <a:schemeClr val="tx1"/>
              </a:solidFill>
            </a:endParaRPr>
          </a:p>
          <a:p>
            <a:pPr fontAlgn="base">
              <a:buFont typeface="Arial" panose="020B0604020202020204" pitchFamily="34" charset="0"/>
              <a:buChar char="•"/>
            </a:pPr>
            <a:r>
              <a:rPr lang="en-US" sz="1600" b="1" dirty="0">
                <a:solidFill>
                  <a:schemeClr val="tx1"/>
                </a:solidFill>
              </a:rPr>
              <a:t>Goal 9: Industry, Innovation, and Infrastructure:</a:t>
            </a:r>
            <a:r>
              <a:rPr lang="en-US" sz="1600" dirty="0">
                <a:solidFill>
                  <a:schemeClr val="tx1"/>
                </a:solidFill>
              </a:rPr>
              <a:t> Fostering innovation in sales operations and data processing infrastructures using state-of-the-art Multi-Agent Systems.</a:t>
            </a:r>
          </a:p>
        </p:txBody>
      </p:sp>
      <p:sp>
        <p:nvSpPr>
          <p:cNvPr id="3" name="Google Shape;66;p14">
            <a:extLst>
              <a:ext uri="{FF2B5EF4-FFF2-40B4-BE49-F238E27FC236}">
                <a16:creationId xmlns:a16="http://schemas.microsoft.com/office/drawing/2014/main" id="{D10BD29F-B116-CC0F-1C98-9E114A2A1FF4}"/>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spTree>
    <p:extLst>
      <p:ext uri="{BB962C8B-B14F-4D97-AF65-F5344CB8AC3E}">
        <p14:creationId xmlns:p14="http://schemas.microsoft.com/office/powerpoint/2010/main" val="382637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86E58808-9FA1-A5D9-7C43-0319E7F257B3}"/>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5ED4F557-BB5B-7EA5-482C-80BCCF7CDC7F}"/>
              </a:ext>
            </a:extLst>
          </p:cNvPr>
          <p:cNvSpPr txBox="1">
            <a:spLocks noGrp="1"/>
          </p:cNvSpPr>
          <p:nvPr>
            <p:ph type="title"/>
          </p:nvPr>
        </p:nvSpPr>
        <p:spPr>
          <a:xfrm>
            <a:off x="109728" y="-36848"/>
            <a:ext cx="8520600" cy="572700"/>
          </a:xfrm>
          <a:prstGeom prst="rect">
            <a:avLst/>
          </a:prstGeom>
        </p:spPr>
        <p:txBody>
          <a:bodyPr spcFirstLastPara="1" wrap="square" lIns="91425" tIns="91425" rIns="91425" bIns="91425" anchor="t" anchorCtr="0">
            <a:normAutofit/>
          </a:bodyPr>
          <a:lstStyle/>
          <a:p>
            <a:pPr lvl="0"/>
            <a:r>
              <a:rPr lang="en-IN" sz="1400" dirty="0"/>
              <a:t>Literature Survey</a:t>
            </a:r>
            <a:endParaRPr sz="1400" dirty="0"/>
          </a:p>
        </p:txBody>
      </p:sp>
      <p:sp>
        <p:nvSpPr>
          <p:cNvPr id="80" name="Google Shape;80;p16">
            <a:extLst>
              <a:ext uri="{FF2B5EF4-FFF2-40B4-BE49-F238E27FC236}">
                <a16:creationId xmlns:a16="http://schemas.microsoft.com/office/drawing/2014/main" id="{BACD4796-57BF-7678-8F40-D85E21F9DB67}"/>
              </a:ext>
            </a:extLst>
          </p:cNvPr>
          <p:cNvSpPr txBox="1"/>
          <p:nvPr/>
        </p:nvSpPr>
        <p:spPr>
          <a:xfrm>
            <a:off x="7788414" y="4743300"/>
            <a:ext cx="2100600" cy="400200"/>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graphicFrame>
        <p:nvGraphicFramePr>
          <p:cNvPr id="4" name="Table 3">
            <a:extLst>
              <a:ext uri="{FF2B5EF4-FFF2-40B4-BE49-F238E27FC236}">
                <a16:creationId xmlns:a16="http://schemas.microsoft.com/office/drawing/2014/main" id="{FCF1F27C-E096-F667-6D39-A69DB3A573D6}"/>
              </a:ext>
            </a:extLst>
          </p:cNvPr>
          <p:cNvGraphicFramePr>
            <a:graphicFrameLocks noGrp="1"/>
          </p:cNvGraphicFramePr>
          <p:nvPr>
            <p:extLst>
              <p:ext uri="{D42A27DB-BD31-4B8C-83A1-F6EECF244321}">
                <p14:modId xmlns:p14="http://schemas.microsoft.com/office/powerpoint/2010/main" val="2944687876"/>
              </p:ext>
            </p:extLst>
          </p:nvPr>
        </p:nvGraphicFramePr>
        <p:xfrm>
          <a:off x="264074" y="318771"/>
          <a:ext cx="8615853" cy="4424529"/>
        </p:xfrm>
        <a:graphic>
          <a:graphicData uri="http://schemas.openxmlformats.org/drawingml/2006/table">
            <a:tbl>
              <a:tblPr firstRow="1" bandRow="1">
                <a:tableStyleId>{5C22544A-7EE6-4342-B048-85BDC9FD1C3A}</a:tableStyleId>
              </a:tblPr>
              <a:tblGrid>
                <a:gridCol w="519230">
                  <a:extLst>
                    <a:ext uri="{9D8B030D-6E8A-4147-A177-3AD203B41FA5}">
                      <a16:colId xmlns:a16="http://schemas.microsoft.com/office/drawing/2014/main" val="3057255167"/>
                    </a:ext>
                  </a:extLst>
                </a:gridCol>
                <a:gridCol w="1825863">
                  <a:extLst>
                    <a:ext uri="{9D8B030D-6E8A-4147-A177-3AD203B41FA5}">
                      <a16:colId xmlns:a16="http://schemas.microsoft.com/office/drawing/2014/main" val="3729387104"/>
                    </a:ext>
                  </a:extLst>
                </a:gridCol>
                <a:gridCol w="1347415">
                  <a:extLst>
                    <a:ext uri="{9D8B030D-6E8A-4147-A177-3AD203B41FA5}">
                      <a16:colId xmlns:a16="http://schemas.microsoft.com/office/drawing/2014/main" val="1853757487"/>
                    </a:ext>
                  </a:extLst>
                </a:gridCol>
                <a:gridCol w="1179345">
                  <a:extLst>
                    <a:ext uri="{9D8B030D-6E8A-4147-A177-3AD203B41FA5}">
                      <a16:colId xmlns:a16="http://schemas.microsoft.com/office/drawing/2014/main" val="2951018759"/>
                    </a:ext>
                  </a:extLst>
                </a:gridCol>
                <a:gridCol w="1499926">
                  <a:extLst>
                    <a:ext uri="{9D8B030D-6E8A-4147-A177-3AD203B41FA5}">
                      <a16:colId xmlns:a16="http://schemas.microsoft.com/office/drawing/2014/main" val="3501067729"/>
                    </a:ext>
                  </a:extLst>
                </a:gridCol>
                <a:gridCol w="1013238">
                  <a:extLst>
                    <a:ext uri="{9D8B030D-6E8A-4147-A177-3AD203B41FA5}">
                      <a16:colId xmlns:a16="http://schemas.microsoft.com/office/drawing/2014/main" val="4206976245"/>
                    </a:ext>
                  </a:extLst>
                </a:gridCol>
                <a:gridCol w="1230836">
                  <a:extLst>
                    <a:ext uri="{9D8B030D-6E8A-4147-A177-3AD203B41FA5}">
                      <a16:colId xmlns:a16="http://schemas.microsoft.com/office/drawing/2014/main" val="1118617313"/>
                    </a:ext>
                  </a:extLst>
                </a:gridCol>
              </a:tblGrid>
              <a:tr h="330708">
                <a:tc>
                  <a:txBody>
                    <a:bodyPr/>
                    <a:lstStyle/>
                    <a:p>
                      <a:r>
                        <a:rPr lang="en-US" sz="1000" dirty="0"/>
                        <a:t>Sr</a:t>
                      </a:r>
                    </a:p>
                    <a:p>
                      <a:r>
                        <a:rPr lang="en-US" sz="1000" dirty="0"/>
                        <a:t>No.</a:t>
                      </a:r>
                      <a:endParaRPr lang="en-IN" sz="1000" dirty="0"/>
                    </a:p>
                  </a:txBody>
                  <a:tcPr/>
                </a:tc>
                <a:tc>
                  <a:txBody>
                    <a:bodyPr/>
                    <a:lstStyle/>
                    <a:p>
                      <a:r>
                        <a:rPr lang="en-US" sz="1000" dirty="0"/>
                        <a:t>Project title</a:t>
                      </a:r>
                      <a:endParaRPr lang="en-IN" sz="1000" dirty="0"/>
                    </a:p>
                  </a:txBody>
                  <a:tcPr/>
                </a:tc>
                <a:tc>
                  <a:txBody>
                    <a:bodyPr/>
                    <a:lstStyle/>
                    <a:p>
                      <a:r>
                        <a:rPr lang="en-US" sz="1000" dirty="0"/>
                        <a:t>Technical approach</a:t>
                      </a:r>
                      <a:endParaRPr lang="en-IN" sz="1000" dirty="0"/>
                    </a:p>
                  </a:txBody>
                  <a:tcPr/>
                </a:tc>
                <a:tc>
                  <a:txBody>
                    <a:bodyPr/>
                    <a:lstStyle/>
                    <a:p>
                      <a:r>
                        <a:rPr lang="en-US" sz="1000" dirty="0"/>
                        <a:t>Algorithm/</a:t>
                      </a:r>
                    </a:p>
                    <a:p>
                      <a:r>
                        <a:rPr lang="en-US" sz="1000" dirty="0"/>
                        <a:t>Techniques</a:t>
                      </a:r>
                      <a:endParaRPr lang="en-IN" sz="1000" dirty="0"/>
                    </a:p>
                  </a:txBody>
                  <a:tcPr/>
                </a:tc>
                <a:tc>
                  <a:txBody>
                    <a:bodyPr/>
                    <a:lstStyle/>
                    <a:p>
                      <a:r>
                        <a:rPr lang="en-US" sz="1000" dirty="0"/>
                        <a:t>Key findings</a:t>
                      </a:r>
                      <a:endParaRPr lang="en-IN" sz="1000" dirty="0"/>
                    </a:p>
                  </a:txBody>
                  <a:tcPr/>
                </a:tc>
                <a:tc>
                  <a:txBody>
                    <a:bodyPr/>
                    <a:lstStyle/>
                    <a:p>
                      <a:r>
                        <a:rPr lang="en-US" sz="1000" dirty="0"/>
                        <a:t>Limitations</a:t>
                      </a:r>
                      <a:endParaRPr lang="en-IN" sz="1000" dirty="0"/>
                    </a:p>
                  </a:txBody>
                  <a:tcPr/>
                </a:tc>
                <a:tc>
                  <a:txBody>
                    <a:bodyPr/>
                    <a:lstStyle/>
                    <a:p>
                      <a:r>
                        <a:rPr lang="en-US" sz="1000" dirty="0"/>
                        <a:t>Future Scope</a:t>
                      </a:r>
                      <a:endParaRPr lang="en-IN" sz="1000" dirty="0"/>
                    </a:p>
                  </a:txBody>
                  <a:tcPr/>
                </a:tc>
                <a:extLst>
                  <a:ext uri="{0D108BD9-81ED-4DB2-BD59-A6C34878D82A}">
                    <a16:rowId xmlns:a16="http://schemas.microsoft.com/office/drawing/2014/main" val="4043052923"/>
                  </a:ext>
                </a:extLst>
              </a:tr>
              <a:tr h="875403">
                <a:tc>
                  <a:txBody>
                    <a:bodyPr/>
                    <a:lstStyle/>
                    <a:p>
                      <a:r>
                        <a:rPr lang="en-US" sz="1000" dirty="0"/>
                        <a:t>1</a:t>
                      </a:r>
                      <a:endParaRPr lang="en-IN" sz="1000" dirty="0"/>
                    </a:p>
                  </a:txBody>
                  <a:tcPr/>
                </a:tc>
                <a:tc>
                  <a:txBody>
                    <a:bodyPr/>
                    <a:lstStyle/>
                    <a:p>
                      <a:r>
                        <a:rPr lang="en-US" sz="1000" b="1" dirty="0"/>
                        <a:t>Multi-Agent Collaboration Mechanisms: A Survey of LLMs (2025)</a:t>
                      </a:r>
                      <a:endParaRPr lang="en-IN" sz="1000" b="1" dirty="0"/>
                    </a:p>
                  </a:txBody>
                  <a:tcPr/>
                </a:tc>
                <a:tc>
                  <a:txBody>
                    <a:bodyPr/>
                    <a:lstStyle/>
                    <a:p>
                      <a:r>
                        <a:rPr lang="en-US" sz="1000" dirty="0"/>
                        <a:t>Survey of coordination strategies among multiple LLM agents</a:t>
                      </a:r>
                      <a:endParaRPr lang="en-IN" sz="1000" dirty="0"/>
                    </a:p>
                  </a:txBody>
                  <a:tcPr/>
                </a:tc>
                <a:tc>
                  <a:txBody>
                    <a:bodyPr/>
                    <a:lstStyle/>
                    <a:p>
                      <a:r>
                        <a:rPr lang="en-US" sz="1000" dirty="0"/>
                        <a:t>Multi-agent planning, task delegation, consensus mechanisms</a:t>
                      </a:r>
                      <a:endParaRPr lang="en-IN" sz="1000" dirty="0"/>
                    </a:p>
                  </a:txBody>
                  <a:tcPr/>
                </a:tc>
                <a:tc>
                  <a:txBody>
                    <a:bodyPr/>
                    <a:lstStyle/>
                    <a:p>
                      <a:r>
                        <a:rPr lang="en-US" sz="1000" dirty="0"/>
                        <a:t>Demonstrates improved task efficiency using agent collaboration</a:t>
                      </a:r>
                      <a:endParaRPr lang="en-IN" sz="1000" dirty="0"/>
                    </a:p>
                  </a:txBody>
                  <a:tcPr/>
                </a:tc>
                <a:tc>
                  <a:txBody>
                    <a:bodyPr/>
                    <a:lstStyle/>
                    <a:p>
                      <a:r>
                        <a:rPr lang="en-IN" sz="1000" dirty="0"/>
                        <a:t>High orchestration complexity</a:t>
                      </a:r>
                    </a:p>
                  </a:txBody>
                  <a:tcPr/>
                </a:tc>
                <a:tc>
                  <a:txBody>
                    <a:bodyPr/>
                    <a:lstStyle/>
                    <a:p>
                      <a:r>
                        <a:rPr lang="en-US" sz="1000" dirty="0"/>
                        <a:t>Standardized frameworks for scalable agent coordination</a:t>
                      </a:r>
                      <a:endParaRPr lang="en-IN" sz="1000" dirty="0"/>
                    </a:p>
                  </a:txBody>
                  <a:tcPr/>
                </a:tc>
                <a:extLst>
                  <a:ext uri="{0D108BD9-81ED-4DB2-BD59-A6C34878D82A}">
                    <a16:rowId xmlns:a16="http://schemas.microsoft.com/office/drawing/2014/main" val="2301430989"/>
                  </a:ext>
                </a:extLst>
              </a:tr>
              <a:tr h="875403">
                <a:tc>
                  <a:txBody>
                    <a:bodyPr/>
                    <a:lstStyle/>
                    <a:p>
                      <a:r>
                        <a:rPr lang="en-US" sz="1000" dirty="0"/>
                        <a:t>2</a:t>
                      </a:r>
                      <a:endParaRPr lang="en-IN" sz="1000" dirty="0"/>
                    </a:p>
                  </a:txBody>
                  <a:tcPr/>
                </a:tc>
                <a:tc>
                  <a:txBody>
                    <a:bodyPr/>
                    <a:lstStyle/>
                    <a:p>
                      <a:r>
                        <a:rPr lang="en-IN" sz="1000" b="1" dirty="0" err="1"/>
                        <a:t>AutoGen</a:t>
                      </a:r>
                      <a:r>
                        <a:rPr lang="en-IN" sz="1000" b="1" dirty="0"/>
                        <a:t>: Enabling Next-Gen LLM Applications via Multi-Agent Conversation (2023)</a:t>
                      </a:r>
                    </a:p>
                  </a:txBody>
                  <a:tcPr/>
                </a:tc>
                <a:tc>
                  <a:txBody>
                    <a:bodyPr/>
                    <a:lstStyle/>
                    <a:p>
                      <a:r>
                        <a:rPr lang="en-US" sz="1000" dirty="0"/>
                        <a:t>Conversational multi-agent framework for task automation</a:t>
                      </a:r>
                      <a:endParaRPr lang="en-IN" sz="1000" dirty="0"/>
                    </a:p>
                  </a:txBody>
                  <a:tcPr/>
                </a:tc>
                <a:tc>
                  <a:txBody>
                    <a:bodyPr/>
                    <a:lstStyle/>
                    <a:p>
                      <a:r>
                        <a:rPr lang="en-IN" sz="1000" dirty="0"/>
                        <a:t>Agent-to-agent communication, role-based reasoning</a:t>
                      </a:r>
                    </a:p>
                  </a:txBody>
                  <a:tcPr/>
                </a:tc>
                <a:tc>
                  <a:txBody>
                    <a:bodyPr/>
                    <a:lstStyle/>
                    <a:p>
                      <a:r>
                        <a:rPr lang="en-US" sz="1000" dirty="0"/>
                        <a:t>Enables complex workflows through agent collaboration</a:t>
                      </a:r>
                      <a:endParaRPr lang="en-IN" sz="1000" dirty="0"/>
                    </a:p>
                  </a:txBody>
                  <a:tcPr/>
                </a:tc>
                <a:tc>
                  <a:txBody>
                    <a:bodyPr/>
                    <a:lstStyle/>
                    <a:p>
                      <a:r>
                        <a:rPr lang="en-US" sz="1000" dirty="0"/>
                        <a:t>Requires careful prompt and role design</a:t>
                      </a:r>
                      <a:endParaRPr lang="en-IN" sz="1000" dirty="0"/>
                    </a:p>
                  </a:txBody>
                  <a:tcPr/>
                </a:tc>
                <a:tc>
                  <a:txBody>
                    <a:bodyPr/>
                    <a:lstStyle/>
                    <a:p>
                      <a:r>
                        <a:rPr lang="en-US" sz="1000" dirty="0"/>
                        <a:t>Improved reliability and real-world deployment</a:t>
                      </a:r>
                      <a:endParaRPr lang="en-IN" sz="1000" dirty="0"/>
                    </a:p>
                  </a:txBody>
                  <a:tcPr/>
                </a:tc>
                <a:extLst>
                  <a:ext uri="{0D108BD9-81ED-4DB2-BD59-A6C34878D82A}">
                    <a16:rowId xmlns:a16="http://schemas.microsoft.com/office/drawing/2014/main" val="2256078828"/>
                  </a:ext>
                </a:extLst>
              </a:tr>
              <a:tr h="603056">
                <a:tc>
                  <a:txBody>
                    <a:bodyPr/>
                    <a:lstStyle/>
                    <a:p>
                      <a:r>
                        <a:rPr lang="en-US" sz="1000" dirty="0"/>
                        <a:t>3</a:t>
                      </a:r>
                      <a:endParaRPr lang="en-IN" sz="1000" dirty="0"/>
                    </a:p>
                  </a:txBody>
                  <a:tcPr/>
                </a:tc>
                <a:tc>
                  <a:txBody>
                    <a:bodyPr/>
                    <a:lstStyle/>
                    <a:p>
                      <a:r>
                        <a:rPr lang="en-US" sz="1000" b="1" dirty="0" err="1"/>
                        <a:t>LangGraph</a:t>
                      </a:r>
                      <a:r>
                        <a:rPr lang="en-US" sz="1000" b="1" dirty="0"/>
                        <a:t>: Architecting Stateful Multi-Agent Workflows (2024)</a:t>
                      </a:r>
                      <a:endParaRPr lang="en-IN" sz="1000" b="1" dirty="0"/>
                    </a:p>
                  </a:txBody>
                  <a:tcPr/>
                </a:tc>
                <a:tc>
                  <a:txBody>
                    <a:bodyPr/>
                    <a:lstStyle/>
                    <a:p>
                      <a:r>
                        <a:rPr lang="en-US" sz="1000" dirty="0"/>
                        <a:t>Graph-based stateful orchestration of LLM agents</a:t>
                      </a:r>
                      <a:endParaRPr lang="en-IN" sz="1000" dirty="0"/>
                    </a:p>
                  </a:txBody>
                  <a:tcPr/>
                </a:tc>
                <a:tc>
                  <a:txBody>
                    <a:bodyPr/>
                    <a:lstStyle/>
                    <a:p>
                      <a:r>
                        <a:rPr lang="en-IN" sz="1000" dirty="0" err="1"/>
                        <a:t>LangGraph</a:t>
                      </a:r>
                      <a:r>
                        <a:rPr lang="en-IN" sz="1000" dirty="0"/>
                        <a:t>, DAG-based workflows</a:t>
                      </a:r>
                    </a:p>
                  </a:txBody>
                  <a:tcPr/>
                </a:tc>
                <a:tc>
                  <a:txBody>
                    <a:bodyPr/>
                    <a:lstStyle/>
                    <a:p>
                      <a:r>
                        <a:rPr lang="en-US" sz="1000" dirty="0"/>
                        <a:t>Supports scalable and modular agentic systems</a:t>
                      </a:r>
                      <a:endParaRPr lang="en-IN" sz="1000" dirty="0"/>
                    </a:p>
                  </a:txBody>
                  <a:tcPr/>
                </a:tc>
                <a:tc>
                  <a:txBody>
                    <a:bodyPr/>
                    <a:lstStyle/>
                    <a:p>
                      <a:r>
                        <a:rPr lang="en-IN" sz="1000" dirty="0"/>
                        <a:t>Steep learning curve</a:t>
                      </a:r>
                    </a:p>
                  </a:txBody>
                  <a:tcPr/>
                </a:tc>
                <a:tc>
                  <a:txBody>
                    <a:bodyPr/>
                    <a:lstStyle/>
                    <a:p>
                      <a:r>
                        <a:rPr lang="en-US" sz="1000" dirty="0"/>
                        <a:t>Simplified abstractions for business use cases</a:t>
                      </a:r>
                      <a:endParaRPr lang="en-IN" sz="1000" dirty="0"/>
                    </a:p>
                  </a:txBody>
                  <a:tcPr/>
                </a:tc>
                <a:extLst>
                  <a:ext uri="{0D108BD9-81ED-4DB2-BD59-A6C34878D82A}">
                    <a16:rowId xmlns:a16="http://schemas.microsoft.com/office/drawing/2014/main" val="3088238517"/>
                  </a:ext>
                </a:extLst>
              </a:tr>
              <a:tr h="603056">
                <a:tc>
                  <a:txBody>
                    <a:bodyPr/>
                    <a:lstStyle/>
                    <a:p>
                      <a:r>
                        <a:rPr lang="en-US" sz="1000" dirty="0"/>
                        <a:t>4</a:t>
                      </a:r>
                      <a:endParaRPr lang="en-IN" sz="1000" dirty="0"/>
                    </a:p>
                  </a:txBody>
                  <a:tcPr/>
                </a:tc>
                <a:tc>
                  <a:txBody>
                    <a:bodyPr/>
                    <a:lstStyle/>
                    <a:p>
                      <a:r>
                        <a:rPr lang="en-US" sz="1000" b="1" dirty="0" err="1"/>
                        <a:t>asLLR</a:t>
                      </a:r>
                      <a:r>
                        <a:rPr lang="en-US" sz="1000" b="1" dirty="0"/>
                        <a:t>: LLM-based Leads Ranking in Auto Sales (2025)</a:t>
                      </a:r>
                      <a:endParaRPr lang="en-IN" sz="1000" b="1" dirty="0"/>
                    </a:p>
                  </a:txBody>
                  <a:tcPr/>
                </a:tc>
                <a:tc>
                  <a:txBody>
                    <a:bodyPr/>
                    <a:lstStyle/>
                    <a:p>
                      <a:r>
                        <a:rPr lang="en-US" sz="1000" dirty="0"/>
                        <a:t>Lead ranking using LLM reasoning and customer data</a:t>
                      </a:r>
                      <a:endParaRPr lang="en-IN" sz="1000" dirty="0"/>
                    </a:p>
                  </a:txBody>
                  <a:tcPr/>
                </a:tc>
                <a:tc>
                  <a:txBody>
                    <a:bodyPr/>
                    <a:lstStyle/>
                    <a:p>
                      <a:r>
                        <a:rPr lang="en-IN" sz="1000" dirty="0"/>
                        <a:t>LLM-based scoring, feature reasoning</a:t>
                      </a:r>
                    </a:p>
                  </a:txBody>
                  <a:tcPr/>
                </a:tc>
                <a:tc>
                  <a:txBody>
                    <a:bodyPr/>
                    <a:lstStyle/>
                    <a:p>
                      <a:r>
                        <a:rPr lang="en-IN" sz="1000" dirty="0"/>
                        <a:t>Improves lead prioritization accuracy</a:t>
                      </a:r>
                    </a:p>
                  </a:txBody>
                  <a:tcPr/>
                </a:tc>
                <a:tc>
                  <a:txBody>
                    <a:bodyPr/>
                    <a:lstStyle/>
                    <a:p>
                      <a:r>
                        <a:rPr lang="en-IN" sz="1000" dirty="0"/>
                        <a:t>Domain-specific implementation</a:t>
                      </a:r>
                    </a:p>
                  </a:txBody>
                  <a:tcPr/>
                </a:tc>
                <a:tc>
                  <a:txBody>
                    <a:bodyPr/>
                    <a:lstStyle/>
                    <a:p>
                      <a:r>
                        <a:rPr lang="en-US" sz="1000" dirty="0"/>
                        <a:t>Generalized lead scoring across industries</a:t>
                      </a:r>
                      <a:endParaRPr lang="en-IN" sz="1000" dirty="0"/>
                    </a:p>
                  </a:txBody>
                  <a:tcPr/>
                </a:tc>
                <a:extLst>
                  <a:ext uri="{0D108BD9-81ED-4DB2-BD59-A6C34878D82A}">
                    <a16:rowId xmlns:a16="http://schemas.microsoft.com/office/drawing/2014/main" val="826579271"/>
                  </a:ext>
                </a:extLst>
              </a:tr>
              <a:tr h="875403">
                <a:tc>
                  <a:txBody>
                    <a:bodyPr/>
                    <a:lstStyle/>
                    <a:p>
                      <a:r>
                        <a:rPr lang="en-US" sz="1000" dirty="0"/>
                        <a:t>5</a:t>
                      </a:r>
                      <a:endParaRPr lang="en-IN" sz="1000" dirty="0"/>
                    </a:p>
                  </a:txBody>
                  <a:tcPr/>
                </a:tc>
                <a:tc>
                  <a:txBody>
                    <a:bodyPr/>
                    <a:lstStyle/>
                    <a:p>
                      <a:r>
                        <a:rPr lang="en-US" sz="1000" b="1" dirty="0"/>
                        <a:t>The Relevance of Lead Prioritization: A B2B Lead Scoring Model based on Machine Learning (2025)</a:t>
                      </a:r>
                      <a:endParaRPr lang="en-IN" sz="1000" b="1" dirty="0"/>
                    </a:p>
                  </a:txBody>
                  <a:tcPr/>
                </a:tc>
                <a:tc>
                  <a:txBody>
                    <a:bodyPr/>
                    <a:lstStyle/>
                    <a:p>
                      <a:r>
                        <a:rPr lang="en-IN" sz="1000" dirty="0"/>
                        <a:t>Data-driven ML-based lead scoring</a:t>
                      </a:r>
                    </a:p>
                  </a:txBody>
                  <a:tcPr/>
                </a:tc>
                <a:tc>
                  <a:txBody>
                    <a:bodyPr/>
                    <a:lstStyle/>
                    <a:p>
                      <a:r>
                        <a:rPr lang="en-IN" sz="1000" dirty="0"/>
                        <a:t>Classification models, feature weighting</a:t>
                      </a:r>
                    </a:p>
                  </a:txBody>
                  <a:tcPr/>
                </a:tc>
                <a:tc>
                  <a:txBody>
                    <a:bodyPr/>
                    <a:lstStyle/>
                    <a:p>
                      <a:r>
                        <a:rPr lang="en-US" sz="1000" dirty="0"/>
                        <a:t>ML improves sales efficiency by focusing on high-intent leads</a:t>
                      </a:r>
                      <a:endParaRPr lang="en-IN" sz="1000" dirty="0"/>
                    </a:p>
                  </a:txBody>
                  <a:tcPr/>
                </a:tc>
                <a:tc>
                  <a:txBody>
                    <a:bodyPr/>
                    <a:lstStyle/>
                    <a:p>
                      <a:r>
                        <a:rPr lang="en-IN" sz="1000" dirty="0"/>
                        <a:t>Requires large historical datasets</a:t>
                      </a:r>
                    </a:p>
                  </a:txBody>
                  <a:tcPr/>
                </a:tc>
                <a:tc>
                  <a:txBody>
                    <a:bodyPr/>
                    <a:lstStyle/>
                    <a:p>
                      <a:r>
                        <a:rPr lang="en-IN" sz="1000" dirty="0"/>
                        <a:t>Hybrid ML + LLM scoring models</a:t>
                      </a:r>
                    </a:p>
                  </a:txBody>
                  <a:tcPr/>
                </a:tc>
                <a:extLst>
                  <a:ext uri="{0D108BD9-81ED-4DB2-BD59-A6C34878D82A}">
                    <a16:rowId xmlns:a16="http://schemas.microsoft.com/office/drawing/2014/main" val="3645680945"/>
                  </a:ext>
                </a:extLst>
              </a:tr>
            </a:tbl>
          </a:graphicData>
        </a:graphic>
      </p:graphicFrame>
    </p:spTree>
    <p:extLst>
      <p:ext uri="{BB962C8B-B14F-4D97-AF65-F5344CB8AC3E}">
        <p14:creationId xmlns:p14="http://schemas.microsoft.com/office/powerpoint/2010/main" val="3806387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AC745711-3A4D-BC75-D51A-3B6B98E8DAD1}"/>
            </a:ext>
          </a:extLst>
        </p:cNvPr>
        <p:cNvGrpSpPr/>
        <p:nvPr/>
      </p:nvGrpSpPr>
      <p:grpSpPr>
        <a:xfrm>
          <a:off x="0" y="0"/>
          <a:ext cx="0" cy="0"/>
          <a:chOff x="0" y="0"/>
          <a:chExt cx="0" cy="0"/>
        </a:xfrm>
      </p:grpSpPr>
      <p:sp>
        <p:nvSpPr>
          <p:cNvPr id="80" name="Google Shape;80;p16">
            <a:extLst>
              <a:ext uri="{FF2B5EF4-FFF2-40B4-BE49-F238E27FC236}">
                <a16:creationId xmlns:a16="http://schemas.microsoft.com/office/drawing/2014/main" id="{66A7C73A-B607-39BB-2922-27627AF3BE8F}"/>
              </a:ext>
            </a:extLst>
          </p:cNvPr>
          <p:cNvSpPr txBox="1"/>
          <p:nvPr/>
        </p:nvSpPr>
        <p:spPr>
          <a:xfrm>
            <a:off x="7662290" y="4756945"/>
            <a:ext cx="2100600" cy="400200"/>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graphicFrame>
        <p:nvGraphicFramePr>
          <p:cNvPr id="4" name="Table 3">
            <a:extLst>
              <a:ext uri="{FF2B5EF4-FFF2-40B4-BE49-F238E27FC236}">
                <a16:creationId xmlns:a16="http://schemas.microsoft.com/office/drawing/2014/main" id="{677193CB-5DCA-3A9C-D5A9-4A651B4605C0}"/>
              </a:ext>
            </a:extLst>
          </p:cNvPr>
          <p:cNvGraphicFramePr>
            <a:graphicFrameLocks noGrp="1"/>
          </p:cNvGraphicFramePr>
          <p:nvPr>
            <p:extLst>
              <p:ext uri="{D42A27DB-BD31-4B8C-83A1-F6EECF244321}">
                <p14:modId xmlns:p14="http://schemas.microsoft.com/office/powerpoint/2010/main" val="1739829712"/>
              </p:ext>
            </p:extLst>
          </p:nvPr>
        </p:nvGraphicFramePr>
        <p:xfrm>
          <a:off x="236484" y="238261"/>
          <a:ext cx="8497614" cy="4628090"/>
        </p:xfrm>
        <a:graphic>
          <a:graphicData uri="http://schemas.openxmlformats.org/drawingml/2006/table">
            <a:tbl>
              <a:tblPr firstRow="1" bandRow="1">
                <a:tableStyleId>{5C22544A-7EE6-4342-B048-85BDC9FD1C3A}</a:tableStyleId>
              </a:tblPr>
              <a:tblGrid>
                <a:gridCol w="512105">
                  <a:extLst>
                    <a:ext uri="{9D8B030D-6E8A-4147-A177-3AD203B41FA5}">
                      <a16:colId xmlns:a16="http://schemas.microsoft.com/office/drawing/2014/main" val="3057255167"/>
                    </a:ext>
                  </a:extLst>
                </a:gridCol>
                <a:gridCol w="1599103">
                  <a:extLst>
                    <a:ext uri="{9D8B030D-6E8A-4147-A177-3AD203B41FA5}">
                      <a16:colId xmlns:a16="http://schemas.microsoft.com/office/drawing/2014/main" val="3729387104"/>
                    </a:ext>
                  </a:extLst>
                </a:gridCol>
                <a:gridCol w="1319506">
                  <a:extLst>
                    <a:ext uri="{9D8B030D-6E8A-4147-A177-3AD203B41FA5}">
                      <a16:colId xmlns:a16="http://schemas.microsoft.com/office/drawing/2014/main" val="1853757487"/>
                    </a:ext>
                  </a:extLst>
                </a:gridCol>
                <a:gridCol w="1259603">
                  <a:extLst>
                    <a:ext uri="{9D8B030D-6E8A-4147-A177-3AD203B41FA5}">
                      <a16:colId xmlns:a16="http://schemas.microsoft.com/office/drawing/2014/main" val="2951018759"/>
                    </a:ext>
                  </a:extLst>
                </a:gridCol>
                <a:gridCol w="1506081">
                  <a:extLst>
                    <a:ext uri="{9D8B030D-6E8A-4147-A177-3AD203B41FA5}">
                      <a16:colId xmlns:a16="http://schemas.microsoft.com/office/drawing/2014/main" val="3501067729"/>
                    </a:ext>
                  </a:extLst>
                </a:gridCol>
                <a:gridCol w="1087271">
                  <a:extLst>
                    <a:ext uri="{9D8B030D-6E8A-4147-A177-3AD203B41FA5}">
                      <a16:colId xmlns:a16="http://schemas.microsoft.com/office/drawing/2014/main" val="4206976245"/>
                    </a:ext>
                  </a:extLst>
                </a:gridCol>
                <a:gridCol w="1213945">
                  <a:extLst>
                    <a:ext uri="{9D8B030D-6E8A-4147-A177-3AD203B41FA5}">
                      <a16:colId xmlns:a16="http://schemas.microsoft.com/office/drawing/2014/main" val="1118617313"/>
                    </a:ext>
                  </a:extLst>
                </a:gridCol>
              </a:tblGrid>
              <a:tr h="459155">
                <a:tc>
                  <a:txBody>
                    <a:bodyPr/>
                    <a:lstStyle/>
                    <a:p>
                      <a:r>
                        <a:rPr lang="en-US" sz="950" dirty="0" err="1"/>
                        <a:t>Sr</a:t>
                      </a:r>
                      <a:endParaRPr lang="en-US" sz="950" dirty="0"/>
                    </a:p>
                    <a:p>
                      <a:r>
                        <a:rPr lang="en-US" sz="950" dirty="0"/>
                        <a:t>No.</a:t>
                      </a:r>
                      <a:endParaRPr lang="en-IN" sz="950" dirty="0"/>
                    </a:p>
                  </a:txBody>
                  <a:tcPr/>
                </a:tc>
                <a:tc>
                  <a:txBody>
                    <a:bodyPr/>
                    <a:lstStyle/>
                    <a:p>
                      <a:r>
                        <a:rPr lang="en-US" sz="950"/>
                        <a:t>Project title</a:t>
                      </a:r>
                      <a:endParaRPr lang="en-IN" sz="950" dirty="0"/>
                    </a:p>
                  </a:txBody>
                  <a:tcPr/>
                </a:tc>
                <a:tc>
                  <a:txBody>
                    <a:bodyPr/>
                    <a:lstStyle/>
                    <a:p>
                      <a:r>
                        <a:rPr lang="en-US" sz="950"/>
                        <a:t>Technical approach</a:t>
                      </a:r>
                      <a:endParaRPr lang="en-IN" sz="950" dirty="0"/>
                    </a:p>
                  </a:txBody>
                  <a:tcPr/>
                </a:tc>
                <a:tc>
                  <a:txBody>
                    <a:bodyPr/>
                    <a:lstStyle/>
                    <a:p>
                      <a:r>
                        <a:rPr lang="en-US" sz="950"/>
                        <a:t>Algorithm/</a:t>
                      </a:r>
                    </a:p>
                    <a:p>
                      <a:r>
                        <a:rPr lang="en-US" sz="950"/>
                        <a:t>Techniques</a:t>
                      </a:r>
                      <a:endParaRPr lang="en-IN" sz="950" dirty="0"/>
                    </a:p>
                  </a:txBody>
                  <a:tcPr/>
                </a:tc>
                <a:tc>
                  <a:txBody>
                    <a:bodyPr/>
                    <a:lstStyle/>
                    <a:p>
                      <a:r>
                        <a:rPr lang="en-US" sz="950"/>
                        <a:t>Key findings</a:t>
                      </a:r>
                      <a:endParaRPr lang="en-IN" sz="950" dirty="0"/>
                    </a:p>
                  </a:txBody>
                  <a:tcPr/>
                </a:tc>
                <a:tc>
                  <a:txBody>
                    <a:bodyPr/>
                    <a:lstStyle/>
                    <a:p>
                      <a:r>
                        <a:rPr lang="en-US" sz="950"/>
                        <a:t>Limitations</a:t>
                      </a:r>
                      <a:endParaRPr lang="en-IN" sz="950" dirty="0"/>
                    </a:p>
                  </a:txBody>
                  <a:tcPr/>
                </a:tc>
                <a:tc>
                  <a:txBody>
                    <a:bodyPr/>
                    <a:lstStyle/>
                    <a:p>
                      <a:r>
                        <a:rPr lang="en-US" sz="950"/>
                        <a:t>Future Scope</a:t>
                      </a:r>
                      <a:endParaRPr lang="en-IN" sz="950" dirty="0"/>
                    </a:p>
                  </a:txBody>
                  <a:tcPr/>
                </a:tc>
                <a:extLst>
                  <a:ext uri="{0D108BD9-81ED-4DB2-BD59-A6C34878D82A}">
                    <a16:rowId xmlns:a16="http://schemas.microsoft.com/office/drawing/2014/main" val="4043052923"/>
                  </a:ext>
                </a:extLst>
              </a:tr>
              <a:tr h="964860">
                <a:tc>
                  <a:txBody>
                    <a:bodyPr/>
                    <a:lstStyle/>
                    <a:p>
                      <a:r>
                        <a:rPr lang="en-US" sz="950"/>
                        <a:t>6</a:t>
                      </a:r>
                      <a:endParaRPr lang="en-IN" sz="950" dirty="0"/>
                    </a:p>
                  </a:txBody>
                  <a:tcPr/>
                </a:tc>
                <a:tc>
                  <a:txBody>
                    <a:bodyPr/>
                    <a:lstStyle/>
                    <a:p>
                      <a:r>
                        <a:rPr lang="en-US" sz="950" b="1" dirty="0"/>
                        <a:t>Intent Recognition and Out-of-Scope Detection using LLMs (2025)</a:t>
                      </a:r>
                      <a:endParaRPr lang="en-IN" sz="950" b="1" dirty="0"/>
                    </a:p>
                  </a:txBody>
                  <a:tcPr/>
                </a:tc>
                <a:tc>
                  <a:txBody>
                    <a:bodyPr/>
                    <a:lstStyle/>
                    <a:p>
                      <a:r>
                        <a:rPr lang="en-IN" sz="950" dirty="0"/>
                        <a:t>Intent classification using LLMs</a:t>
                      </a:r>
                    </a:p>
                  </a:txBody>
                  <a:tcPr/>
                </a:tc>
                <a:tc>
                  <a:txBody>
                    <a:bodyPr/>
                    <a:lstStyle/>
                    <a:p>
                      <a:r>
                        <a:rPr lang="en-IN" sz="950" dirty="0"/>
                        <a:t>NLP, intent classification, semantic analysis</a:t>
                      </a:r>
                    </a:p>
                  </a:txBody>
                  <a:tcPr/>
                </a:tc>
                <a:tc>
                  <a:txBody>
                    <a:bodyPr/>
                    <a:lstStyle/>
                    <a:p>
                      <a:r>
                        <a:rPr lang="en-US" sz="950" dirty="0"/>
                        <a:t>Accurate detection of buyer intent</a:t>
                      </a:r>
                      <a:endParaRPr lang="en-IN" sz="950" dirty="0"/>
                    </a:p>
                  </a:txBody>
                  <a:tcPr/>
                </a:tc>
                <a:tc>
                  <a:txBody>
                    <a:bodyPr/>
                    <a:lstStyle/>
                    <a:p>
                      <a:r>
                        <a:rPr lang="en-IN" sz="950" dirty="0"/>
                        <a:t>Struggles with ambiguous inputs</a:t>
                      </a:r>
                    </a:p>
                  </a:txBody>
                  <a:tcPr/>
                </a:tc>
                <a:tc>
                  <a:txBody>
                    <a:bodyPr/>
                    <a:lstStyle/>
                    <a:p>
                      <a:r>
                        <a:rPr lang="en-IN" sz="950" dirty="0"/>
                        <a:t>Context-aware intent detection</a:t>
                      </a:r>
                    </a:p>
                  </a:txBody>
                  <a:tcPr/>
                </a:tc>
                <a:extLst>
                  <a:ext uri="{0D108BD9-81ED-4DB2-BD59-A6C34878D82A}">
                    <a16:rowId xmlns:a16="http://schemas.microsoft.com/office/drawing/2014/main" val="2301430989"/>
                  </a:ext>
                </a:extLst>
              </a:tr>
              <a:tr h="787122">
                <a:tc>
                  <a:txBody>
                    <a:bodyPr/>
                    <a:lstStyle/>
                    <a:p>
                      <a:r>
                        <a:rPr lang="en-US" sz="950"/>
                        <a:t>7</a:t>
                      </a:r>
                      <a:endParaRPr lang="en-IN" sz="95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950" b="1" dirty="0"/>
                        <a:t>The Role of AI Nudges in Optimizing Consumer Behavior (2025)</a:t>
                      </a:r>
                      <a:endParaRPr lang="en-IN" sz="950" b="1" dirty="0"/>
                    </a:p>
                  </a:txBody>
                  <a:tcPr/>
                </a:tc>
                <a:tc>
                  <a:txBody>
                    <a:bodyPr/>
                    <a:lstStyle/>
                    <a:p>
                      <a:r>
                        <a:rPr lang="en-US" sz="950" dirty="0"/>
                        <a:t>Behavioral analysis using AI-driven nudges</a:t>
                      </a:r>
                      <a:endParaRPr lang="en-IN" sz="950" dirty="0"/>
                    </a:p>
                  </a:txBody>
                  <a:tcPr/>
                </a:tc>
                <a:tc>
                  <a:txBody>
                    <a:bodyPr/>
                    <a:lstStyle/>
                    <a:p>
                      <a:r>
                        <a:rPr lang="en-IN" sz="950" dirty="0"/>
                        <a:t>Reinforcement learning, </a:t>
                      </a:r>
                      <a:r>
                        <a:rPr lang="en-IN" sz="950" dirty="0" err="1"/>
                        <a:t>behavioral</a:t>
                      </a:r>
                      <a:r>
                        <a:rPr lang="en-IN" sz="950" dirty="0"/>
                        <a:t> </a:t>
                      </a:r>
                      <a:r>
                        <a:rPr lang="en-IN" sz="950" dirty="0" err="1"/>
                        <a:t>modeling</a:t>
                      </a:r>
                      <a:endParaRPr lang="en-IN" sz="950" dirty="0"/>
                    </a:p>
                  </a:txBody>
                  <a:tcPr/>
                </a:tc>
                <a:tc>
                  <a:txBody>
                    <a:bodyPr/>
                    <a:lstStyle/>
                    <a:p>
                      <a:r>
                        <a:rPr lang="en-IN" sz="950" dirty="0"/>
                        <a:t>Optimized follow-ups increase engagement</a:t>
                      </a:r>
                    </a:p>
                  </a:txBody>
                  <a:tcPr/>
                </a:tc>
                <a:tc>
                  <a:txBody>
                    <a:bodyPr/>
                    <a:lstStyle/>
                    <a:p>
                      <a:r>
                        <a:rPr lang="en-IN" sz="950" dirty="0"/>
                        <a:t>Risk of user fatigue</a:t>
                      </a:r>
                    </a:p>
                  </a:txBody>
                  <a:tcPr/>
                </a:tc>
                <a:tc>
                  <a:txBody>
                    <a:bodyPr/>
                    <a:lstStyle/>
                    <a:p>
                      <a:r>
                        <a:rPr lang="en-US" sz="950" dirty="0"/>
                        <a:t>Adaptive and ethical nudge systems</a:t>
                      </a:r>
                      <a:endParaRPr lang="en-IN" sz="950" dirty="0"/>
                    </a:p>
                  </a:txBody>
                  <a:tcPr/>
                </a:tc>
                <a:extLst>
                  <a:ext uri="{0D108BD9-81ED-4DB2-BD59-A6C34878D82A}">
                    <a16:rowId xmlns:a16="http://schemas.microsoft.com/office/drawing/2014/main" val="2256078828"/>
                  </a:ext>
                </a:extLst>
              </a:tr>
              <a:tr h="787122">
                <a:tc>
                  <a:txBody>
                    <a:bodyPr/>
                    <a:lstStyle/>
                    <a:p>
                      <a:r>
                        <a:rPr lang="en-US" sz="950"/>
                        <a:t>8</a:t>
                      </a:r>
                      <a:endParaRPr lang="en-IN" sz="950" dirty="0"/>
                    </a:p>
                  </a:txBody>
                  <a:tcPr/>
                </a:tc>
                <a:tc>
                  <a:txBody>
                    <a:bodyPr/>
                    <a:lstStyle/>
                    <a:p>
                      <a:r>
                        <a:rPr lang="en-US" sz="950" b="1" dirty="0"/>
                        <a:t>Understanding Customer Responses to AI-Driven Personalized Journeys (2025)</a:t>
                      </a:r>
                      <a:endParaRPr lang="en-IN" sz="950" b="1" dirty="0"/>
                    </a:p>
                  </a:txBody>
                  <a:tcPr/>
                </a:tc>
                <a:tc>
                  <a:txBody>
                    <a:bodyPr/>
                    <a:lstStyle/>
                    <a:p>
                      <a:r>
                        <a:rPr lang="en-US" sz="950" dirty="0"/>
                        <a:t>Analysis of personalization impact on customers</a:t>
                      </a:r>
                      <a:endParaRPr lang="en-IN" sz="950" dirty="0"/>
                    </a:p>
                  </a:txBody>
                  <a:tcPr/>
                </a:tc>
                <a:tc>
                  <a:txBody>
                    <a:bodyPr/>
                    <a:lstStyle/>
                    <a:p>
                      <a:r>
                        <a:rPr lang="en-US" sz="950" dirty="0"/>
                        <a:t>Personalization algorithms, customer journey modeling</a:t>
                      </a:r>
                      <a:endParaRPr lang="en-IN" sz="950" dirty="0"/>
                    </a:p>
                  </a:txBody>
                  <a:tcPr/>
                </a:tc>
                <a:tc>
                  <a:txBody>
                    <a:bodyPr/>
                    <a:lstStyle/>
                    <a:p>
                      <a:r>
                        <a:rPr lang="en-US" sz="950" dirty="0"/>
                        <a:t>Personalized outreach improves response rates</a:t>
                      </a:r>
                      <a:endParaRPr lang="en-IN" sz="950" dirty="0"/>
                    </a:p>
                  </a:txBody>
                  <a:tcPr/>
                </a:tc>
                <a:tc>
                  <a:txBody>
                    <a:bodyPr/>
                    <a:lstStyle/>
                    <a:p>
                      <a:r>
                        <a:rPr lang="en-IN" sz="950" dirty="0"/>
                        <a:t>Privacy concerns</a:t>
                      </a:r>
                    </a:p>
                  </a:txBody>
                  <a:tcPr/>
                </a:tc>
                <a:tc>
                  <a:txBody>
                    <a:bodyPr/>
                    <a:lstStyle/>
                    <a:p>
                      <a:r>
                        <a:rPr lang="en-IN" sz="950" dirty="0"/>
                        <a:t>Privacy-preserving personalization</a:t>
                      </a:r>
                    </a:p>
                  </a:txBody>
                  <a:tcPr/>
                </a:tc>
                <a:extLst>
                  <a:ext uri="{0D108BD9-81ED-4DB2-BD59-A6C34878D82A}">
                    <a16:rowId xmlns:a16="http://schemas.microsoft.com/office/drawing/2014/main" val="3088238517"/>
                  </a:ext>
                </a:extLst>
              </a:tr>
              <a:tr h="842709">
                <a:tc>
                  <a:txBody>
                    <a:bodyPr/>
                    <a:lstStyle/>
                    <a:p>
                      <a:r>
                        <a:rPr lang="en-US" sz="950"/>
                        <a:t>9</a:t>
                      </a:r>
                      <a:endParaRPr lang="en-IN" sz="950" dirty="0"/>
                    </a:p>
                  </a:txBody>
                  <a:tcPr/>
                </a:tc>
                <a:tc>
                  <a:txBody>
                    <a:bodyPr/>
                    <a:lstStyle/>
                    <a:p>
                      <a:r>
                        <a:rPr lang="en-US" sz="950" b="1" dirty="0"/>
                        <a:t>The Algorithmic Persuader: Ethical Challenges in AI-Powered Digital Marketing (2025)</a:t>
                      </a:r>
                      <a:endParaRPr lang="en-IN" sz="950" b="1" dirty="0"/>
                    </a:p>
                  </a:txBody>
                  <a:tcPr/>
                </a:tc>
                <a:tc>
                  <a:txBody>
                    <a:bodyPr/>
                    <a:lstStyle/>
                    <a:p>
                      <a:r>
                        <a:rPr lang="en-US" sz="950" dirty="0"/>
                        <a:t>Ethical evaluation of AI-driven persuasion</a:t>
                      </a:r>
                      <a:endParaRPr lang="en-IN" sz="950" dirty="0"/>
                    </a:p>
                  </a:txBody>
                  <a:tcPr/>
                </a:tc>
                <a:tc>
                  <a:txBody>
                    <a:bodyPr/>
                    <a:lstStyle/>
                    <a:p>
                      <a:r>
                        <a:rPr lang="en-IN" sz="950" dirty="0"/>
                        <a:t>Ethical AI frameworks</a:t>
                      </a:r>
                    </a:p>
                  </a:txBody>
                  <a:tcPr/>
                </a:tc>
                <a:tc>
                  <a:txBody>
                    <a:bodyPr/>
                    <a:lstStyle/>
                    <a:p>
                      <a:r>
                        <a:rPr lang="en-US" sz="950" dirty="0"/>
                        <a:t>Highlights risks of manipulation and bias</a:t>
                      </a:r>
                      <a:endParaRPr lang="en-IN" sz="950" dirty="0"/>
                    </a:p>
                  </a:txBody>
                  <a:tcPr/>
                </a:tc>
                <a:tc>
                  <a:txBody>
                    <a:bodyPr/>
                    <a:lstStyle/>
                    <a:p>
                      <a:r>
                        <a:rPr lang="en-IN" sz="950" dirty="0"/>
                        <a:t>Limited technical mitigation strategies</a:t>
                      </a:r>
                    </a:p>
                  </a:txBody>
                  <a:tcPr/>
                </a:tc>
                <a:tc>
                  <a:txBody>
                    <a:bodyPr/>
                    <a:lstStyle/>
                    <a:p>
                      <a:r>
                        <a:rPr lang="en-IN" sz="950" dirty="0"/>
                        <a:t>Responsible AI governance models</a:t>
                      </a:r>
                    </a:p>
                  </a:txBody>
                  <a:tcPr/>
                </a:tc>
                <a:extLst>
                  <a:ext uri="{0D108BD9-81ED-4DB2-BD59-A6C34878D82A}">
                    <a16:rowId xmlns:a16="http://schemas.microsoft.com/office/drawing/2014/main" val="826579271"/>
                  </a:ext>
                </a:extLst>
              </a:tr>
              <a:tr h="787122">
                <a:tc>
                  <a:txBody>
                    <a:bodyPr/>
                    <a:lstStyle/>
                    <a:p>
                      <a:r>
                        <a:rPr lang="en-US" sz="950"/>
                        <a:t>10</a:t>
                      </a:r>
                      <a:endParaRPr lang="en-IN" sz="950" dirty="0"/>
                    </a:p>
                  </a:txBody>
                  <a:tcPr/>
                </a:tc>
                <a:tc>
                  <a:txBody>
                    <a:bodyPr/>
                    <a:lstStyle/>
                    <a:p>
                      <a:r>
                        <a:rPr lang="en-US" sz="950" b="1" dirty="0"/>
                        <a:t>How AI Agents Will Transform B2B Sales (2025)</a:t>
                      </a:r>
                      <a:endParaRPr lang="en-IN" sz="950" b="1" dirty="0"/>
                    </a:p>
                  </a:txBody>
                  <a:tcPr/>
                </a:tc>
                <a:tc>
                  <a:txBody>
                    <a:bodyPr/>
                    <a:lstStyle/>
                    <a:p>
                      <a:r>
                        <a:rPr lang="en-US" sz="950" dirty="0"/>
                        <a:t>Conceptual study of AI agents in sales automation</a:t>
                      </a:r>
                      <a:endParaRPr lang="en-IN" sz="950" dirty="0"/>
                    </a:p>
                  </a:txBody>
                  <a:tcPr/>
                </a:tc>
                <a:tc>
                  <a:txBody>
                    <a:bodyPr/>
                    <a:lstStyle/>
                    <a:p>
                      <a:r>
                        <a:rPr lang="en-IN" sz="950" dirty="0"/>
                        <a:t>Autonomous agents, CRM integration</a:t>
                      </a:r>
                    </a:p>
                  </a:txBody>
                  <a:tcPr/>
                </a:tc>
                <a:tc>
                  <a:txBody>
                    <a:bodyPr/>
                    <a:lstStyle/>
                    <a:p>
                      <a:r>
                        <a:rPr lang="en-US" sz="950" dirty="0"/>
                        <a:t>AI agents can automate and optimize sales pipelines</a:t>
                      </a:r>
                      <a:endParaRPr lang="en-IN" sz="950" dirty="0"/>
                    </a:p>
                  </a:txBody>
                  <a:tcPr/>
                </a:tc>
                <a:tc>
                  <a:txBody>
                    <a:bodyPr/>
                    <a:lstStyle/>
                    <a:p>
                      <a:r>
                        <a:rPr lang="en-IN" sz="950" dirty="0"/>
                        <a:t>Early-stage adoption</a:t>
                      </a:r>
                    </a:p>
                  </a:txBody>
                  <a:tcPr/>
                </a:tc>
                <a:tc>
                  <a:txBody>
                    <a:bodyPr/>
                    <a:lstStyle/>
                    <a:p>
                      <a:r>
                        <a:rPr lang="en-IN" sz="950" dirty="0"/>
                        <a:t>Production-ready agentic sales systems</a:t>
                      </a:r>
                    </a:p>
                  </a:txBody>
                  <a:tcPr/>
                </a:tc>
                <a:extLst>
                  <a:ext uri="{0D108BD9-81ED-4DB2-BD59-A6C34878D82A}">
                    <a16:rowId xmlns:a16="http://schemas.microsoft.com/office/drawing/2014/main" val="3645680945"/>
                  </a:ext>
                </a:extLst>
              </a:tr>
            </a:tbl>
          </a:graphicData>
        </a:graphic>
      </p:graphicFrame>
    </p:spTree>
    <p:extLst>
      <p:ext uri="{BB962C8B-B14F-4D97-AF65-F5344CB8AC3E}">
        <p14:creationId xmlns:p14="http://schemas.microsoft.com/office/powerpoint/2010/main" val="2326230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197F76A-B304-62D9-806F-90B018EB32AD}"/>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9DB674F1-C581-4922-8C18-5BB9FD45CA7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Expected Outcome</a:t>
            </a:r>
            <a:endParaRPr dirty="0"/>
          </a:p>
        </p:txBody>
      </p:sp>
      <p:sp>
        <p:nvSpPr>
          <p:cNvPr id="79" name="Google Shape;79;p16">
            <a:extLst>
              <a:ext uri="{FF2B5EF4-FFF2-40B4-BE49-F238E27FC236}">
                <a16:creationId xmlns:a16="http://schemas.microsoft.com/office/drawing/2014/main" id="{73202C1B-A5BF-9623-1638-CE999097F75F}"/>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fontAlgn="base"/>
            <a:r>
              <a:rPr lang="en-US" sz="1600" b="1" dirty="0">
                <a:solidFill>
                  <a:schemeClr val="tx1"/>
                </a:solidFill>
              </a:rPr>
              <a:t>Engagement:</a:t>
            </a:r>
            <a:r>
              <a:rPr lang="en-US" sz="1600" dirty="0">
                <a:solidFill>
                  <a:schemeClr val="tx1"/>
                </a:solidFill>
              </a:rPr>
              <a:t> Expected 25%+ increase in email open and response rates.​</a:t>
            </a:r>
          </a:p>
          <a:p>
            <a:pPr marL="114300" indent="0" fontAlgn="base">
              <a:buNone/>
            </a:pPr>
            <a:endParaRPr lang="en-US" sz="1600" dirty="0">
              <a:solidFill>
                <a:schemeClr val="tx1"/>
              </a:solidFill>
            </a:endParaRPr>
          </a:p>
          <a:p>
            <a:pPr fontAlgn="base"/>
            <a:r>
              <a:rPr lang="en-US" sz="1600" b="1" dirty="0">
                <a:solidFill>
                  <a:schemeClr val="tx1"/>
                </a:solidFill>
              </a:rPr>
              <a:t>Time Savings:</a:t>
            </a:r>
            <a:r>
              <a:rPr lang="en-US" sz="1600" dirty="0">
                <a:solidFill>
                  <a:schemeClr val="tx1"/>
                </a:solidFill>
              </a:rPr>
              <a:t> 80% reduction in manual time spent on lead qualification.​</a:t>
            </a:r>
          </a:p>
          <a:p>
            <a:pPr marL="114300" indent="0" fontAlgn="base">
              <a:buNone/>
            </a:pPr>
            <a:endParaRPr lang="en-US" sz="1600" dirty="0">
              <a:solidFill>
                <a:schemeClr val="tx1"/>
              </a:solidFill>
            </a:endParaRPr>
          </a:p>
          <a:p>
            <a:pPr fontAlgn="base"/>
            <a:r>
              <a:rPr lang="en-US" sz="1600" b="1" dirty="0">
                <a:solidFill>
                  <a:schemeClr val="tx1"/>
                </a:solidFill>
              </a:rPr>
              <a:t>Optimization:</a:t>
            </a:r>
            <a:r>
              <a:rPr lang="en-US" sz="1600" dirty="0">
                <a:solidFill>
                  <a:schemeClr val="tx1"/>
                </a:solidFill>
              </a:rPr>
              <a:t> Improved "Meeting Booked" ratio through data-driven​ timing.​</a:t>
            </a:r>
          </a:p>
          <a:p>
            <a:pPr marL="114300" indent="0" fontAlgn="base">
              <a:buNone/>
            </a:pPr>
            <a:endParaRPr lang="en-US" sz="1600" dirty="0">
              <a:solidFill>
                <a:schemeClr val="tx1"/>
              </a:solidFill>
            </a:endParaRPr>
          </a:p>
          <a:p>
            <a:pPr fontAlgn="base"/>
            <a:r>
              <a:rPr lang="en-US" sz="1600" b="1" dirty="0">
                <a:solidFill>
                  <a:schemeClr val="tx1"/>
                </a:solidFill>
              </a:rPr>
              <a:t>System Integrity:</a:t>
            </a:r>
            <a:r>
              <a:rPr lang="en-US" sz="1600" dirty="0">
                <a:solidFill>
                  <a:schemeClr val="tx1"/>
                </a:solidFill>
              </a:rPr>
              <a:t> A robust, error-correcting agentic pipeline that logs all activities to a CRM.​</a:t>
            </a:r>
          </a:p>
        </p:txBody>
      </p:sp>
      <p:sp>
        <p:nvSpPr>
          <p:cNvPr id="3" name="Google Shape;66;p14">
            <a:extLst>
              <a:ext uri="{FF2B5EF4-FFF2-40B4-BE49-F238E27FC236}">
                <a16:creationId xmlns:a16="http://schemas.microsoft.com/office/drawing/2014/main" id="{906DE4AE-FA4C-D7CF-F26F-C9DCB1520748}"/>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pPr lvl="0"/>
            <a:r>
              <a:rPr lang="en-IN" dirty="0" err="1"/>
              <a:t>LeadMind</a:t>
            </a:r>
            <a:endParaRPr lang="en-IN" dirty="0"/>
          </a:p>
        </p:txBody>
      </p:sp>
    </p:spTree>
    <p:extLst>
      <p:ext uri="{BB962C8B-B14F-4D97-AF65-F5344CB8AC3E}">
        <p14:creationId xmlns:p14="http://schemas.microsoft.com/office/powerpoint/2010/main" val="1026399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C6FB8645-7939-980A-BB81-DA3DA0D92946}"/>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9BF3CFF3-865E-C26A-1E97-C731DA90F41F}"/>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References 1</a:t>
            </a:r>
            <a:endParaRPr/>
          </a:p>
        </p:txBody>
      </p:sp>
      <p:sp>
        <p:nvSpPr>
          <p:cNvPr id="79" name="Google Shape;79;p16">
            <a:extLst>
              <a:ext uri="{FF2B5EF4-FFF2-40B4-BE49-F238E27FC236}">
                <a16:creationId xmlns:a16="http://schemas.microsoft.com/office/drawing/2014/main" id="{4921889C-F574-C1C6-AED1-C2070FD056EC}"/>
              </a:ext>
            </a:extLst>
          </p:cNvPr>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fontAlgn="base">
              <a:buNone/>
            </a:pPr>
            <a:r>
              <a:rPr lang="en-US" b="1" dirty="0">
                <a:solidFill>
                  <a:srgbClr val="0097A7"/>
                </a:solidFill>
                <a:hlinkClick r:id="rId3">
                  <a:extLst>
                    <a:ext uri="{A12FA001-AC4F-418D-AE19-62706E023703}">
                      <ahyp:hlinkClr xmlns:ahyp="http://schemas.microsoft.com/office/drawing/2018/hyperlinkcolor" val="tx"/>
                    </a:ext>
                  </a:extLst>
                </a:hlinkClick>
              </a:rPr>
              <a:t>Sales Research Bench: Technical Paper (2025)</a:t>
            </a:r>
            <a:r>
              <a:rPr lang="en-US" dirty="0">
                <a:solidFill>
                  <a:schemeClr val="tx1"/>
                </a:solidFill>
                <a:hlinkClick r:id="rId3">
                  <a:extLst>
                    <a:ext uri="{A12FA001-AC4F-418D-AE19-62706E023703}">
                      <ahyp:hlinkClr xmlns:ahyp="http://schemas.microsoft.com/office/drawing/2018/hyperlinkcolor" val="tx"/>
                    </a:ext>
                  </a:extLst>
                </a:hlinkClick>
              </a:rPr>
              <a:t>​</a:t>
            </a:r>
            <a:endParaRPr lang="en-US" dirty="0">
              <a:solidFill>
                <a:schemeClr val="tx1"/>
              </a:solidFill>
            </a:endParaRPr>
          </a:p>
          <a:p>
            <a:pPr fontAlgn="base">
              <a:buFont typeface="Arial" panose="020B0604020202020204" pitchFamily="34" charset="0"/>
              <a:buChar char="•"/>
            </a:pPr>
            <a:r>
              <a:rPr lang="en-US" b="1" dirty="0">
                <a:solidFill>
                  <a:schemeClr val="tx1"/>
                </a:solidFill>
              </a:rPr>
              <a:t>Authors:</a:t>
            </a:r>
            <a:r>
              <a:rPr lang="en-US" dirty="0">
                <a:solidFill>
                  <a:schemeClr val="tx1"/>
                </a:solidFill>
              </a:rPr>
              <a:t> Microsoft Dynamics 365 AI Research Team.​</a:t>
            </a:r>
          </a:p>
          <a:p>
            <a:pPr fontAlgn="base">
              <a:buFont typeface="Arial" panose="020B0604020202020204" pitchFamily="34" charset="0"/>
              <a:buChar char="•"/>
            </a:pPr>
            <a:endParaRPr lang="en-US" dirty="0">
              <a:solidFill>
                <a:schemeClr val="tx1"/>
              </a:solidFill>
            </a:endParaRPr>
          </a:p>
          <a:p>
            <a:pPr fontAlgn="base">
              <a:buFont typeface="Arial" panose="020B0604020202020204" pitchFamily="34" charset="0"/>
              <a:buChar char="•"/>
            </a:pPr>
            <a:r>
              <a:rPr lang="en-US" b="1" dirty="0">
                <a:solidFill>
                  <a:schemeClr val="tx1"/>
                </a:solidFill>
              </a:rPr>
              <a:t>Summary:</a:t>
            </a:r>
            <a:r>
              <a:rPr lang="en-US" dirty="0">
                <a:solidFill>
                  <a:schemeClr val="tx1"/>
                </a:solidFill>
              </a:rPr>
              <a:t> This paper introduces a specialized benchmark for evaluating "Sales Research Agents." It details a multi-agent infrastructure that orchestrates lead blueprints, text narratives, and data visualizations with a focus on "Schema Accuracy" and "Text </a:t>
            </a:r>
            <a:r>
              <a:rPr lang="en-US" dirty="0" err="1">
                <a:solidFill>
                  <a:schemeClr val="tx1"/>
                </a:solidFill>
              </a:rPr>
              <a:t>Groundedness</a:t>
            </a:r>
            <a:r>
              <a:rPr lang="en-US" dirty="0">
                <a:solidFill>
                  <a:schemeClr val="tx1"/>
                </a:solidFill>
              </a:rPr>
              <a:t>"</a:t>
            </a:r>
          </a:p>
        </p:txBody>
      </p:sp>
      <p:sp>
        <p:nvSpPr>
          <p:cNvPr id="3" name="Google Shape;66;p14">
            <a:extLst>
              <a:ext uri="{FF2B5EF4-FFF2-40B4-BE49-F238E27FC236}">
                <a16:creationId xmlns:a16="http://schemas.microsoft.com/office/drawing/2014/main" id="{01D39A15-4AC5-6248-262B-FEF68DB9C264}"/>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spTree>
    <p:extLst>
      <p:ext uri="{BB962C8B-B14F-4D97-AF65-F5344CB8AC3E}">
        <p14:creationId xmlns:p14="http://schemas.microsoft.com/office/powerpoint/2010/main" val="2976439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References 2</a:t>
            </a:r>
            <a:endParaRPr dirty="0"/>
          </a:p>
        </p:txBody>
      </p:sp>
      <p:sp>
        <p:nvSpPr>
          <p:cNvPr id="86" name="Google Shape;86;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fontAlgn="base">
              <a:buNone/>
            </a:pPr>
            <a:r>
              <a:rPr lang="en-US" b="1" dirty="0">
                <a:solidFill>
                  <a:srgbClr val="00B0F0"/>
                </a:solidFill>
                <a:hlinkClick r:id="rId3">
                  <a:extLst>
                    <a:ext uri="{A12FA001-AC4F-418D-AE19-62706E023703}">
                      <ahyp:hlinkClr xmlns:ahyp="http://schemas.microsoft.com/office/drawing/2018/hyperlinkcolor" val="tx"/>
                    </a:ext>
                  </a:extLst>
                </a:hlinkClick>
              </a:rPr>
              <a:t>Multi-Agent Collaboration Mechanisms: A Survey of LLMs (2025)</a:t>
            </a:r>
            <a:r>
              <a:rPr lang="en-US" dirty="0">
                <a:solidFill>
                  <a:schemeClr val="tx1"/>
                </a:solidFill>
              </a:rPr>
              <a:t>​</a:t>
            </a:r>
          </a:p>
          <a:p>
            <a:pPr fontAlgn="base">
              <a:buFont typeface="Arial" panose="020B0604020202020204" pitchFamily="34" charset="0"/>
              <a:buChar char="•"/>
            </a:pPr>
            <a:r>
              <a:rPr lang="en-US" b="1" dirty="0">
                <a:solidFill>
                  <a:schemeClr val="tx1"/>
                </a:solidFill>
              </a:rPr>
              <a:t>Authors:</a:t>
            </a:r>
            <a:r>
              <a:rPr lang="en-US" dirty="0">
                <a:solidFill>
                  <a:schemeClr val="tx1"/>
                </a:solidFill>
              </a:rPr>
              <a:t> J. Nie, B. Zhang, et al. (University of Montreal / </a:t>
            </a:r>
            <a:r>
              <a:rPr lang="en-US" dirty="0" err="1">
                <a:solidFill>
                  <a:schemeClr val="tx1"/>
                </a:solidFill>
              </a:rPr>
              <a:t>arXiv</a:t>
            </a:r>
            <a:r>
              <a:rPr lang="en-US" dirty="0">
                <a:solidFill>
                  <a:schemeClr val="tx1"/>
                </a:solidFill>
              </a:rPr>
              <a:t>).​</a:t>
            </a:r>
          </a:p>
          <a:p>
            <a:pPr fontAlgn="base">
              <a:buFont typeface="Arial" panose="020B0604020202020204" pitchFamily="34" charset="0"/>
              <a:buChar char="•"/>
            </a:pPr>
            <a:endParaRPr lang="en-US" dirty="0">
              <a:solidFill>
                <a:schemeClr val="tx1"/>
              </a:solidFill>
            </a:endParaRPr>
          </a:p>
          <a:p>
            <a:pPr fontAlgn="base">
              <a:buFont typeface="Arial" panose="020B0604020202020204" pitchFamily="34" charset="0"/>
              <a:buChar char="•"/>
            </a:pPr>
            <a:r>
              <a:rPr lang="en-US" b="1" dirty="0">
                <a:solidFill>
                  <a:schemeClr val="tx1"/>
                </a:solidFill>
              </a:rPr>
              <a:t>Summary:</a:t>
            </a:r>
            <a:r>
              <a:rPr lang="en-US" dirty="0">
                <a:solidFill>
                  <a:schemeClr val="tx1"/>
                </a:solidFill>
              </a:rPr>
              <a:t> An extensive survey providing a framework for how LLM-based agents transition from isolated models to collaborative systems. It categorizes coordination protocols and strategies essential for modular workflows like your proposed project.​</a:t>
            </a:r>
          </a:p>
        </p:txBody>
      </p:sp>
      <p:sp>
        <p:nvSpPr>
          <p:cNvPr id="3" name="Google Shape;66;p14">
            <a:extLst>
              <a:ext uri="{FF2B5EF4-FFF2-40B4-BE49-F238E27FC236}">
                <a16:creationId xmlns:a16="http://schemas.microsoft.com/office/drawing/2014/main" id="{E59392E6-8AD8-7208-8738-62278D5EDB9B}"/>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dirty="0" err="1"/>
              <a:t>LeadMind</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References 3</a:t>
            </a:r>
            <a:endParaRPr dirty="0"/>
          </a:p>
        </p:txBody>
      </p:sp>
      <p:sp>
        <p:nvSpPr>
          <p:cNvPr id="93" name="Google Shape;9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indent="0" fontAlgn="base">
              <a:buNone/>
            </a:pPr>
            <a:r>
              <a:rPr lang="en-US" b="1" dirty="0" err="1">
                <a:solidFill>
                  <a:srgbClr val="0097A7"/>
                </a:solidFill>
                <a:hlinkClick r:id="rId3">
                  <a:extLst>
                    <a:ext uri="{A12FA001-AC4F-418D-AE19-62706E023703}">
                      <ahyp:hlinkClr xmlns:ahyp="http://schemas.microsoft.com/office/drawing/2018/hyperlinkcolor" val="tx"/>
                    </a:ext>
                  </a:extLst>
                </a:hlinkClick>
              </a:rPr>
              <a:t>LangGraph</a:t>
            </a:r>
            <a:r>
              <a:rPr lang="en-US" b="1" dirty="0">
                <a:solidFill>
                  <a:srgbClr val="0097A7"/>
                </a:solidFill>
                <a:hlinkClick r:id="rId3">
                  <a:extLst>
                    <a:ext uri="{A12FA001-AC4F-418D-AE19-62706E023703}">
                      <ahyp:hlinkClr xmlns:ahyp="http://schemas.microsoft.com/office/drawing/2018/hyperlinkcolor" val="tx"/>
                    </a:ext>
                  </a:extLst>
                </a:hlinkClick>
              </a:rPr>
              <a:t> for Multi-Agent Workflows in Enterprise AI (2025)</a:t>
            </a:r>
            <a:r>
              <a:rPr lang="en-US" dirty="0">
                <a:solidFill>
                  <a:schemeClr val="tx1"/>
                </a:solidFill>
                <a:hlinkClick r:id="rId3">
                  <a:extLst>
                    <a:ext uri="{A12FA001-AC4F-418D-AE19-62706E023703}">
                      <ahyp:hlinkClr xmlns:ahyp="http://schemas.microsoft.com/office/drawing/2018/hyperlinkcolor" val="tx"/>
                    </a:ext>
                  </a:extLst>
                </a:hlinkClick>
              </a:rPr>
              <a:t>​</a:t>
            </a:r>
            <a:endParaRPr lang="en-US" dirty="0">
              <a:solidFill>
                <a:schemeClr val="tx1"/>
              </a:solidFill>
            </a:endParaRPr>
          </a:p>
          <a:p>
            <a:pPr fontAlgn="base">
              <a:buFont typeface="Arial" panose="020B0604020202020204" pitchFamily="34" charset="0"/>
              <a:buChar char="•"/>
            </a:pPr>
            <a:r>
              <a:rPr lang="en-US" b="1" dirty="0">
                <a:solidFill>
                  <a:schemeClr val="tx1"/>
                </a:solidFill>
              </a:rPr>
              <a:t>Author:</a:t>
            </a:r>
            <a:r>
              <a:rPr lang="en-US" dirty="0">
                <a:solidFill>
                  <a:schemeClr val="tx1"/>
                </a:solidFill>
              </a:rPr>
              <a:t> Royal Cyber AI/ML Research Group.​</a:t>
            </a:r>
          </a:p>
          <a:p>
            <a:pPr fontAlgn="base">
              <a:buFont typeface="Arial" panose="020B0604020202020204" pitchFamily="34" charset="0"/>
              <a:buChar char="•"/>
            </a:pPr>
            <a:endParaRPr lang="en-US" dirty="0">
              <a:solidFill>
                <a:schemeClr val="tx1"/>
              </a:solidFill>
            </a:endParaRPr>
          </a:p>
          <a:p>
            <a:pPr fontAlgn="base">
              <a:buFont typeface="Arial" panose="020B0604020202020204" pitchFamily="34" charset="0"/>
              <a:buChar char="•"/>
            </a:pPr>
            <a:r>
              <a:rPr lang="en-US" b="1" dirty="0">
                <a:solidFill>
                  <a:schemeClr val="tx1"/>
                </a:solidFill>
              </a:rPr>
              <a:t>Summary:</a:t>
            </a:r>
            <a:r>
              <a:rPr lang="en-US" dirty="0">
                <a:solidFill>
                  <a:schemeClr val="tx1"/>
                </a:solidFill>
              </a:rPr>
              <a:t> This research focuses on using </a:t>
            </a:r>
            <a:r>
              <a:rPr lang="en-US" b="1" dirty="0" err="1">
                <a:solidFill>
                  <a:schemeClr val="tx1"/>
                </a:solidFill>
              </a:rPr>
              <a:t>LangGraph</a:t>
            </a:r>
            <a:r>
              <a:rPr lang="en-US" dirty="0">
                <a:solidFill>
                  <a:schemeClr val="tx1"/>
                </a:solidFill>
              </a:rPr>
              <a:t> to build state machines for persistent memory in sales workflows. It explains how to design "State Schemas" and "Conditional Edges" to manage human-in-the-loop sales interactions.​</a:t>
            </a:r>
          </a:p>
          <a:p>
            <a:pPr marL="0" lvl="0" indent="0" algn="l" rtl="0">
              <a:spcBef>
                <a:spcPts val="0"/>
              </a:spcBef>
              <a:spcAft>
                <a:spcPts val="1200"/>
              </a:spcAft>
              <a:buNone/>
            </a:pPr>
            <a:endParaRPr dirty="0">
              <a:solidFill>
                <a:schemeClr val="tx1"/>
              </a:solidFill>
            </a:endParaRPr>
          </a:p>
        </p:txBody>
      </p:sp>
      <p:sp>
        <p:nvSpPr>
          <p:cNvPr id="3" name="Google Shape;66;p14">
            <a:extLst>
              <a:ext uri="{FF2B5EF4-FFF2-40B4-BE49-F238E27FC236}">
                <a16:creationId xmlns:a16="http://schemas.microsoft.com/office/drawing/2014/main" id="{D1226636-E189-9EED-1A6D-1CB3E979EECF}"/>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a:t>LeadMind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571222" y="2312996"/>
            <a:ext cx="203342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Certifications</a:t>
            </a:r>
            <a:endParaRPr dirty="0"/>
          </a:p>
        </p:txBody>
      </p:sp>
      <p:sp>
        <p:nvSpPr>
          <p:cNvPr id="3" name="Google Shape;66;p14">
            <a:extLst>
              <a:ext uri="{FF2B5EF4-FFF2-40B4-BE49-F238E27FC236}">
                <a16:creationId xmlns:a16="http://schemas.microsoft.com/office/drawing/2014/main" id="{D1226636-E189-9EED-1A6D-1CB3E979EECF}"/>
              </a:ext>
            </a:extLst>
          </p:cNvPr>
          <p:cNvSpPr txBox="1"/>
          <p:nvPr/>
        </p:nvSpPr>
        <p:spPr>
          <a:xfrm>
            <a:off x="7981517" y="4743421"/>
            <a:ext cx="1095575" cy="400079"/>
          </a:xfrm>
          <a:prstGeom prst="rect">
            <a:avLst/>
          </a:prstGeom>
          <a:noFill/>
          <a:ln>
            <a:noFill/>
          </a:ln>
        </p:spPr>
        <p:txBody>
          <a:bodyPr spcFirstLastPara="1" wrap="square" lIns="91425" tIns="91425" rIns="91425" bIns="91425" anchor="t" anchorCtr="0">
            <a:spAutoFit/>
          </a:bodyPr>
          <a:lstStyle/>
          <a:p>
            <a:r>
              <a:rPr lang="en-IN"/>
              <a:t>LeadMind</a:t>
            </a:r>
          </a:p>
        </p:txBody>
      </p:sp>
      <p:pic>
        <p:nvPicPr>
          <p:cNvPr id="819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8819" t="14839" r="19584" b="12249"/>
          <a:stretch/>
        </p:blipFill>
        <p:spPr bwMode="auto">
          <a:xfrm>
            <a:off x="189186" y="75004"/>
            <a:ext cx="3334407" cy="2357183"/>
          </a:xfrm>
          <a:prstGeom prst="rect">
            <a:avLst/>
          </a:prstGeom>
          <a:ln w="9525">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819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18861" t="14891" r="18743" b="11094"/>
          <a:stretch/>
        </p:blipFill>
        <p:spPr bwMode="auto">
          <a:xfrm>
            <a:off x="5604642" y="75005"/>
            <a:ext cx="3334407" cy="2357183"/>
          </a:xfrm>
          <a:prstGeom prst="rect">
            <a:avLst/>
          </a:prstGeom>
          <a:ln w="9525">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8196" name="Picture 4"/>
          <p:cNvPicPr>
            <a:picLocks noChangeAspect="1" noChangeArrowheads="1"/>
          </p:cNvPicPr>
          <p:nvPr/>
        </p:nvPicPr>
        <p:blipFill rotWithShape="1">
          <a:blip r:embed="rId5">
            <a:extLst>
              <a:ext uri="{28A0092B-C50C-407E-A947-70E740481C1C}">
                <a14:useLocalDpi xmlns:a14="http://schemas.microsoft.com/office/drawing/2010/main" val="0"/>
              </a:ext>
            </a:extLst>
          </a:blip>
          <a:srcRect l="18872" t="15533" r="19558" b="11990"/>
          <a:stretch/>
        </p:blipFill>
        <p:spPr bwMode="auto">
          <a:xfrm>
            <a:off x="189185" y="2599346"/>
            <a:ext cx="3334407" cy="2344114"/>
          </a:xfrm>
          <a:prstGeom prst="rect">
            <a:avLst/>
          </a:prstGeom>
          <a:ln w="9525">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pic>
        <p:nvPicPr>
          <p:cNvPr id="8197" name="Picture 5"/>
          <p:cNvPicPr>
            <a:picLocks noChangeAspect="1" noChangeArrowheads="1"/>
          </p:cNvPicPr>
          <p:nvPr/>
        </p:nvPicPr>
        <p:blipFill rotWithShape="1">
          <a:blip r:embed="rId6">
            <a:extLst>
              <a:ext uri="{28A0092B-C50C-407E-A947-70E740481C1C}">
                <a14:useLocalDpi xmlns:a14="http://schemas.microsoft.com/office/drawing/2010/main" val="0"/>
              </a:ext>
            </a:extLst>
          </a:blip>
          <a:srcRect l="18764" t="15878" r="18815" b="11308"/>
          <a:stretch/>
        </p:blipFill>
        <p:spPr bwMode="auto">
          <a:xfrm>
            <a:off x="5549462" y="2599346"/>
            <a:ext cx="3444766" cy="2399868"/>
          </a:xfrm>
          <a:prstGeom prst="rect">
            <a:avLst/>
          </a:prstGeom>
          <a:ln w="9525">
            <a:solidFill>
              <a:schemeClr val="tx1"/>
            </a:solidFill>
            <a:miter lim="800000"/>
            <a:headEnd/>
            <a:tailEnd/>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877871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3074" name="Picture 2" descr="Thank you logo Images - Free Download ...">
            <a:extLst>
              <a:ext uri="{FF2B5EF4-FFF2-40B4-BE49-F238E27FC236}">
                <a16:creationId xmlns:a16="http://schemas.microsoft.com/office/drawing/2014/main" id="{0F477DA1-6188-3C2C-AD14-43149E33EA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3066" y="1376212"/>
            <a:ext cx="3377869" cy="23910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343</TotalTime>
  <Words>1246</Words>
  <Application>Microsoft Office PowerPoint</Application>
  <PresentationFormat>On-screen Show (16:9)</PresentationFormat>
  <Paragraphs>181</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Simple Light</vt:lpstr>
      <vt:lpstr>PowerPoint Presentation</vt:lpstr>
      <vt:lpstr>Problem statement</vt:lpstr>
      <vt:lpstr>Scope</vt:lpstr>
      <vt:lpstr>Architecture Diagram</vt:lpstr>
      <vt:lpstr>Data Flow Diagram – DFD Level 0</vt:lpstr>
      <vt:lpstr>Data Flow Diagram – DFD Level 1</vt:lpstr>
      <vt:lpstr>Data Flow Diagram – DFD Level 2</vt:lpstr>
      <vt:lpstr>Use Case Diagram</vt:lpstr>
      <vt:lpstr>Activity Diagram</vt:lpstr>
      <vt:lpstr>Tech Stack​</vt:lpstr>
      <vt:lpstr>SDG Goals</vt:lpstr>
      <vt:lpstr>Literature Survey</vt:lpstr>
      <vt:lpstr>PowerPoint Presentation</vt:lpstr>
      <vt:lpstr>Expected Outcome</vt:lpstr>
      <vt:lpstr>References 1</vt:lpstr>
      <vt:lpstr>References 2</vt:lpstr>
      <vt:lpstr>References 3</vt:lpstr>
      <vt:lpstr>Certifications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Aditya</dc:creator>
  <cp:lastModifiedBy>Abhishek Mishra</cp:lastModifiedBy>
  <cp:revision>12</cp:revision>
  <dcterms:modified xsi:type="dcterms:W3CDTF">2026-04-17T07:12:18Z</dcterms:modified>
</cp:coreProperties>
</file>